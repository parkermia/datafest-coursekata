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ublic Sans Thin"/>
      <p:regular r:id="rId25"/>
      <p:bold r:id="rId26"/>
      <p:italic r:id="rId27"/>
      <p:boldItalic r:id="rId28"/>
    </p:embeddedFont>
    <p:embeddedFont>
      <p:font typeface="Playfair Display"/>
      <p:regular r:id="rId29"/>
      <p:bold r:id="rId30"/>
      <p:italic r:id="rId31"/>
      <p:boldItalic r:id="rId32"/>
    </p:embeddedFont>
    <p:embeddedFont>
      <p:font typeface="Merriweather Light"/>
      <p:regular r:id="rId33"/>
      <p:bold r:id="rId34"/>
      <p:italic r:id="rId35"/>
      <p:boldItalic r:id="rId36"/>
    </p:embeddedFont>
    <p:embeddedFont>
      <p:font typeface="Public Sans"/>
      <p:regular r:id="rId37"/>
      <p:bold r:id="rId38"/>
      <p:italic r:id="rId39"/>
      <p:boldItalic r:id="rId40"/>
    </p:embeddedFont>
    <p:embeddedFont>
      <p:font typeface="Merriweather"/>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ublicSans-boldItalic.fntdata"/><Relationship Id="rId20" Type="http://schemas.openxmlformats.org/officeDocument/2006/relationships/slide" Target="slides/slide15.xml"/><Relationship Id="rId42" Type="http://schemas.openxmlformats.org/officeDocument/2006/relationships/font" Target="fonts/Merriweather-bold.fntdata"/><Relationship Id="rId41" Type="http://schemas.openxmlformats.org/officeDocument/2006/relationships/font" Target="fonts/Merriweather-regular.fntdata"/><Relationship Id="rId22" Type="http://schemas.openxmlformats.org/officeDocument/2006/relationships/slide" Target="slides/slide17.xml"/><Relationship Id="rId44" Type="http://schemas.openxmlformats.org/officeDocument/2006/relationships/font" Target="fonts/Merriweather-boldItalic.fntdata"/><Relationship Id="rId21" Type="http://schemas.openxmlformats.org/officeDocument/2006/relationships/slide" Target="slides/slide16.xml"/><Relationship Id="rId43" Type="http://schemas.openxmlformats.org/officeDocument/2006/relationships/font" Target="fonts/Merriweather-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ublicSansThin-bold.fntdata"/><Relationship Id="rId25" Type="http://schemas.openxmlformats.org/officeDocument/2006/relationships/font" Target="fonts/PublicSansThin-regular.fntdata"/><Relationship Id="rId28" Type="http://schemas.openxmlformats.org/officeDocument/2006/relationships/font" Target="fonts/PublicSansThin-boldItalic.fntdata"/><Relationship Id="rId27" Type="http://schemas.openxmlformats.org/officeDocument/2006/relationships/font" Target="fonts/PublicSansTh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italic.fntdata"/><Relationship Id="rId30" Type="http://schemas.openxmlformats.org/officeDocument/2006/relationships/font" Target="fonts/PlayfairDisplay-bold.fntdata"/><Relationship Id="rId11" Type="http://schemas.openxmlformats.org/officeDocument/2006/relationships/slide" Target="slides/slide6.xml"/><Relationship Id="rId33" Type="http://schemas.openxmlformats.org/officeDocument/2006/relationships/font" Target="fonts/MerriweatherLight-regular.fntdata"/><Relationship Id="rId10" Type="http://schemas.openxmlformats.org/officeDocument/2006/relationships/slide" Target="slides/slide5.xml"/><Relationship Id="rId32" Type="http://schemas.openxmlformats.org/officeDocument/2006/relationships/font" Target="fonts/PlayfairDisplay-boldItalic.fntdata"/><Relationship Id="rId13" Type="http://schemas.openxmlformats.org/officeDocument/2006/relationships/slide" Target="slides/slide8.xml"/><Relationship Id="rId35" Type="http://schemas.openxmlformats.org/officeDocument/2006/relationships/font" Target="fonts/MerriweatherLight-italic.fntdata"/><Relationship Id="rId12" Type="http://schemas.openxmlformats.org/officeDocument/2006/relationships/slide" Target="slides/slide7.xml"/><Relationship Id="rId34" Type="http://schemas.openxmlformats.org/officeDocument/2006/relationships/font" Target="fonts/MerriweatherLight-bold.fntdata"/><Relationship Id="rId15" Type="http://schemas.openxmlformats.org/officeDocument/2006/relationships/slide" Target="slides/slide10.xml"/><Relationship Id="rId37" Type="http://schemas.openxmlformats.org/officeDocument/2006/relationships/font" Target="fonts/PublicSans-regular.fntdata"/><Relationship Id="rId14" Type="http://schemas.openxmlformats.org/officeDocument/2006/relationships/slide" Target="slides/slide9.xml"/><Relationship Id="rId36" Type="http://schemas.openxmlformats.org/officeDocument/2006/relationships/font" Target="fonts/MerriweatherLight-boldItalic.fntdata"/><Relationship Id="rId17" Type="http://schemas.openxmlformats.org/officeDocument/2006/relationships/slide" Target="slides/slide12.xml"/><Relationship Id="rId39" Type="http://schemas.openxmlformats.org/officeDocument/2006/relationships/font" Target="fonts/PublicSans-italic.fntdata"/><Relationship Id="rId16" Type="http://schemas.openxmlformats.org/officeDocument/2006/relationships/slide" Target="slides/slide11.xml"/><Relationship Id="rId38" Type="http://schemas.openxmlformats.org/officeDocument/2006/relationships/font" Target="fonts/Public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c9d0a8c2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c9d0a8c2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9adbc11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9adbc11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9adbc117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9adbc11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 Codes: blue1: #A6CEE3, purple1: #CAB2D6, red: #FB9A99, green: #B2DF8A, yellow: #fee08b, purple2: #c17e7f, orange: #FDBF6F, blue2: #7cb9cb, purple3: #c497cd</a:t>
            </a:r>
            <a:endParaRPr/>
          </a:p>
          <a:p>
            <a:pPr indent="0" lvl="0" marL="0" rtl="0" algn="l">
              <a:spcBef>
                <a:spcPts val="0"/>
              </a:spcBef>
              <a:spcAft>
                <a:spcPts val="0"/>
              </a:spcAft>
              <a:buClr>
                <a:schemeClr val="dk1"/>
              </a:buClr>
              <a:buSzPts val="1100"/>
              <a:buFont typeface="Arial"/>
              <a:buNone/>
            </a:pPr>
            <a:r>
              <a:rPr lang="en"/>
              <a:t>In graph 1, we can see the distribution of question types per chapter. This was calculated using the items.csv which contains the type of question and the amount of that type for each chapter. It was then a process of calculating the probability instead of a number.</a:t>
            </a:r>
            <a:endParaRPr/>
          </a:p>
          <a:p>
            <a:pPr indent="0" lvl="0" marL="0" rtl="0" algn="l">
              <a:spcBef>
                <a:spcPts val="0"/>
              </a:spcBef>
              <a:spcAft>
                <a:spcPts val="0"/>
              </a:spcAft>
              <a:buNone/>
            </a:pPr>
            <a:r>
              <a:rPr lang="en"/>
              <a:t>From this graph we can see that the majority of questions within each chapter are multiple choice, with the second highest type being long text problems.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c9adbc117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c9adbc117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EOC</a:t>
            </a:r>
            <a:endParaRPr/>
          </a:p>
          <a:p>
            <a:pPr indent="0" lvl="0" marL="0" rtl="0" algn="l">
              <a:spcBef>
                <a:spcPts val="0"/>
              </a:spcBef>
              <a:spcAft>
                <a:spcPts val="0"/>
              </a:spcAft>
              <a:buClr>
                <a:schemeClr val="dk1"/>
              </a:buClr>
              <a:buSzPts val="1100"/>
              <a:buFont typeface="Arial"/>
              <a:buNone/>
            </a:pPr>
            <a:r>
              <a:rPr lang="en"/>
              <a:t>In graph 2, we have the distribution of EOC values, grouped by percentile values. This was found by finding the average EOC of each student and then grouping them into 25% portions. We then graphed these as boxplot to see individual distribution</a:t>
            </a:r>
            <a:endParaRPr/>
          </a:p>
          <a:p>
            <a:pPr indent="0" lvl="0" marL="0" rtl="0" algn="l">
              <a:spcBef>
                <a:spcPts val="0"/>
              </a:spcBef>
              <a:spcAft>
                <a:spcPts val="0"/>
              </a:spcAft>
              <a:buClr>
                <a:schemeClr val="dk1"/>
              </a:buClr>
              <a:buSzPts val="1100"/>
              <a:buFont typeface="Arial"/>
              <a:buNone/>
            </a:pPr>
            <a:r>
              <a:rPr lang="en"/>
              <a:t>We can see that 25%-50% and 50%-75% have the least variations in scores while 75%-100% has the most amount of outliers.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9adbc117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c9adbc117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9adbc117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c9adbc117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c9adbc117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c9adbc117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2B2C30"/>
              </a:buClr>
              <a:buSzPts val="1700"/>
              <a:buFont typeface="Public Sans Thin"/>
              <a:buChar char="-"/>
            </a:pPr>
            <a:r>
              <a:rPr lang="en" sz="1700">
                <a:solidFill>
                  <a:srgbClr val="2B2C30"/>
                </a:solidFill>
                <a:latin typeface="Public Sans Thin"/>
                <a:ea typeface="Public Sans Thin"/>
                <a:cs typeface="Public Sans Thin"/>
                <a:sym typeface="Public Sans Thin"/>
              </a:rPr>
              <a:t>This suggests that Choice Matrix questions are less effective and should be replaced with more effective question types.</a:t>
            </a:r>
            <a:endParaRPr sz="1700">
              <a:solidFill>
                <a:srgbClr val="2B2C30"/>
              </a:solidFill>
              <a:latin typeface="Public Sans Thin"/>
              <a:ea typeface="Public Sans Thin"/>
              <a:cs typeface="Public Sans Thin"/>
              <a:sym typeface="Public Sans Thin"/>
            </a:endParaRPr>
          </a:p>
          <a:p>
            <a:pPr indent="-336550" lvl="0" marL="457200" rtl="0" algn="l">
              <a:spcBef>
                <a:spcPts val="0"/>
              </a:spcBef>
              <a:spcAft>
                <a:spcPts val="0"/>
              </a:spcAft>
              <a:buClr>
                <a:srgbClr val="2B2C30"/>
              </a:buClr>
              <a:buSzPts val="1700"/>
              <a:buFont typeface="Public Sans Thin"/>
              <a:buChar char="-"/>
            </a:pPr>
            <a:r>
              <a:rPr lang="en" sz="1700">
                <a:solidFill>
                  <a:srgbClr val="2B2C30"/>
                </a:solidFill>
                <a:latin typeface="Public Sans Thin"/>
                <a:ea typeface="Public Sans Thin"/>
                <a:cs typeface="Public Sans Thin"/>
                <a:sym typeface="Public Sans Thin"/>
              </a:rPr>
              <a:t>Even top-performers are struggling with these</a:t>
            </a:r>
            <a:endParaRPr sz="1700">
              <a:solidFill>
                <a:srgbClr val="2B2C30"/>
              </a:solidFill>
              <a:latin typeface="Public Sans Thin"/>
              <a:ea typeface="Public Sans Thin"/>
              <a:cs typeface="Public Sans Thin"/>
              <a:sym typeface="Public Sans Thin"/>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c9cb1473d3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c9cb1473d3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c9cb1473d3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c9cb1473d3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9cb1473d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c9cb1473d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9cb1473d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c9cb1473d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9d0a8c23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c9d0a8c23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c9d0a8c23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c9d0a8c23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c9d0a8c23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c9d0a8c23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9adbc117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9adbc117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800">
                <a:solidFill>
                  <a:srgbClr val="2B2C30"/>
                </a:solidFill>
                <a:latin typeface="Public Sans Thin"/>
                <a:ea typeface="Public Sans Thin"/>
                <a:cs typeface="Public Sans Thin"/>
                <a:sym typeface="Public Sans Thin"/>
              </a:rPr>
              <a:t>Here are some recommendations </a:t>
            </a:r>
            <a:r>
              <a:rPr lang="en" sz="1800">
                <a:solidFill>
                  <a:srgbClr val="2B2C30"/>
                </a:solidFill>
                <a:latin typeface="Public Sans Thin"/>
                <a:ea typeface="Public Sans Thin"/>
                <a:cs typeface="Public Sans Thin"/>
                <a:sym typeface="Public Sans Thin"/>
              </a:rPr>
              <a:t>to help CourseKata reach their goal of improving statistical learning.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d78a360f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d78a360f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2B2C30"/>
                </a:solidFill>
                <a:latin typeface="Public Sans Thin"/>
                <a:ea typeface="Public Sans Thin"/>
                <a:cs typeface="Public Sans Thin"/>
                <a:sym typeface="Public Sans Thin"/>
              </a:rPr>
              <a:t>When analyzing students’ response data, we ran into some roadblocks. The data is riddled with holes left by students who skip questions. Multiple choice questions give students the option to give an “I don’t know” response, and we suggest that CourseKata adds this feature to other question types. Additionally, students should not be allowed to continue through the curriculum without confirmation that they are ready to move on. One way this can be achieved is by giving students a limited number of submissions per question. If they reach the limit, they’re sent back to the relevant section of the chapter to refresh their memory before attempting the question again. Not only would this make sure students are prepared before moving on to new sections,but it would fill holes in the data and make further analysis feasible.</a:t>
            </a:r>
            <a:endParaRPr sz="1800">
              <a:solidFill>
                <a:srgbClr val="2B2C30"/>
              </a:solidFill>
              <a:latin typeface="Public Sans Thin"/>
              <a:ea typeface="Public Sans Thin"/>
              <a:cs typeface="Public Sans Thin"/>
              <a:sym typeface="Public Sans Thin"/>
            </a:endParaRPr>
          </a:p>
          <a:p>
            <a:pPr indent="0" lvl="0" marL="0" rtl="0" algn="l">
              <a:lnSpc>
                <a:spcPct val="115000"/>
              </a:lnSpc>
              <a:spcBef>
                <a:spcPts val="1200"/>
              </a:spcBef>
              <a:spcAft>
                <a:spcPts val="1200"/>
              </a:spcAft>
              <a:buClr>
                <a:schemeClr val="dk1"/>
              </a:buClr>
              <a:buSzPts val="1100"/>
              <a:buFont typeface="Arial"/>
              <a:buNone/>
            </a:pPr>
            <a:r>
              <a:t/>
            </a:r>
            <a:endParaRPr sz="1800">
              <a:solidFill>
                <a:srgbClr val="2B2C30"/>
              </a:solidFill>
              <a:latin typeface="Public Sans Thin"/>
              <a:ea typeface="Public Sans Thin"/>
              <a:cs typeface="Public Sans Thin"/>
              <a:sym typeface="Public Sans Thi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d78a360f0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d78a360f0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2B2C30"/>
                </a:solidFill>
                <a:latin typeface="Public Sans Thin"/>
                <a:ea typeface="Public Sans Thin"/>
                <a:cs typeface="Public Sans Thin"/>
                <a:sym typeface="Public Sans Thin"/>
              </a:rPr>
              <a:t>Not all questions are created equal. With some question-types, such as Choice Matrix, the highest performing students have an average accuracy that is similar to the weakest students. This suggests that questions like these are poor indicators of student performance. These questions should therefore be altered or phased out all together in favor of questions-types that contribute more to students’ success.</a:t>
            </a:r>
            <a:endParaRPr sz="1800">
              <a:solidFill>
                <a:srgbClr val="2B2C30"/>
              </a:solidFill>
              <a:latin typeface="Public Sans Thin"/>
              <a:ea typeface="Public Sans Thin"/>
              <a:cs typeface="Public Sans Thin"/>
              <a:sym typeface="Public Sans Thi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c9adbc117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c9adbc117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EE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200">
        <p:push/>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 Id="rId10" Type="http://schemas.openxmlformats.org/officeDocument/2006/relationships/image" Target="../media/image2.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jp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7000">
                <a:solidFill>
                  <a:srgbClr val="2B2C30"/>
                </a:solidFill>
                <a:latin typeface="Playfair Display"/>
                <a:ea typeface="Playfair Display"/>
                <a:cs typeface="Playfair Display"/>
                <a:sym typeface="Playfair Display"/>
              </a:rPr>
              <a:t>Analyzing Student Success</a:t>
            </a:r>
            <a:endParaRPr sz="7000">
              <a:solidFill>
                <a:srgbClr val="2B2C30"/>
              </a:solidFill>
              <a:latin typeface="Playfair Display"/>
              <a:ea typeface="Playfair Display"/>
              <a:cs typeface="Playfair Display"/>
              <a:sym typeface="Playfair Display"/>
            </a:endParaRPr>
          </a:p>
        </p:txBody>
      </p:sp>
      <p:sp>
        <p:nvSpPr>
          <p:cNvPr id="55" name="Google Shape;55;p13"/>
          <p:cNvSpPr txBox="1"/>
          <p:nvPr>
            <p:ph idx="1" type="subTitle"/>
          </p:nvPr>
        </p:nvSpPr>
        <p:spPr>
          <a:xfrm>
            <a:off x="205375" y="3515725"/>
            <a:ext cx="8520600" cy="79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a:solidFill>
                  <a:srgbClr val="2B2C30"/>
                </a:solidFill>
                <a:latin typeface="Public Sans"/>
                <a:ea typeface="Public Sans"/>
                <a:cs typeface="Public Sans"/>
                <a:sym typeface="Public Sans"/>
              </a:rPr>
              <a:t>Sam Holmes, Teo Mendoza, Ben Webster, and Mia Parker</a:t>
            </a:r>
            <a:endParaRPr>
              <a:solidFill>
                <a:srgbClr val="2B2C30"/>
              </a:solidFill>
              <a:latin typeface="Public Sans"/>
              <a:ea typeface="Public Sans"/>
              <a:cs typeface="Public Sans"/>
              <a:sym typeface="Public Sans"/>
            </a:endParaRPr>
          </a:p>
        </p:txBody>
      </p:sp>
      <p:sp>
        <p:nvSpPr>
          <p:cNvPr id="56" name="Google Shape;56;p13"/>
          <p:cNvSpPr txBox="1"/>
          <p:nvPr>
            <p:ph idx="1" type="subTitle"/>
          </p:nvPr>
        </p:nvSpPr>
        <p:spPr>
          <a:xfrm>
            <a:off x="117950" y="30563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2B2C30"/>
                </a:solidFill>
                <a:latin typeface="Public Sans"/>
                <a:ea typeface="Public Sans"/>
                <a:cs typeface="Public Sans"/>
                <a:sym typeface="Public Sans"/>
              </a:rPr>
              <a:t>Ctrl Alt Defeat</a:t>
            </a:r>
            <a:endParaRPr b="1">
              <a:solidFill>
                <a:srgbClr val="2B2C30"/>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1820250"/>
            <a:ext cx="8520600" cy="150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780">
                <a:solidFill>
                  <a:srgbClr val="2B2C30"/>
                </a:solidFill>
                <a:latin typeface="Public Sans"/>
                <a:ea typeface="Public Sans"/>
                <a:cs typeface="Public Sans"/>
                <a:sym typeface="Public Sans"/>
              </a:rPr>
              <a:t>How does success across learnosity question types</a:t>
            </a:r>
            <a:r>
              <a:rPr b="1" lang="en" sz="3780">
                <a:solidFill>
                  <a:srgbClr val="2B2C30"/>
                </a:solidFill>
                <a:latin typeface="Public Sans"/>
                <a:ea typeface="Public Sans"/>
                <a:cs typeface="Public Sans"/>
                <a:sym typeface="Public Sans"/>
              </a:rPr>
              <a:t> </a:t>
            </a:r>
            <a:r>
              <a:rPr lang="en" sz="3780">
                <a:solidFill>
                  <a:srgbClr val="2B2C30"/>
                </a:solidFill>
                <a:latin typeface="Public Sans"/>
                <a:ea typeface="Public Sans"/>
                <a:cs typeface="Public Sans"/>
                <a:sym typeface="Public Sans"/>
              </a:rPr>
              <a:t>influence students’ </a:t>
            </a:r>
            <a:r>
              <a:rPr b="1" lang="en" sz="3780">
                <a:solidFill>
                  <a:srgbClr val="2B2C30"/>
                </a:solidFill>
                <a:latin typeface="Public Sans"/>
                <a:ea typeface="Public Sans"/>
                <a:cs typeface="Public Sans"/>
                <a:sym typeface="Public Sans"/>
              </a:rPr>
              <a:t>overall success</a:t>
            </a:r>
            <a:r>
              <a:rPr lang="en" sz="3780">
                <a:solidFill>
                  <a:srgbClr val="2B2C30"/>
                </a:solidFill>
                <a:latin typeface="Public Sans"/>
                <a:ea typeface="Public Sans"/>
                <a:cs typeface="Public Sans"/>
                <a:sym typeface="Public Sans"/>
              </a:rPr>
              <a:t>?</a:t>
            </a:r>
            <a:endParaRPr sz="3780">
              <a:solidFill>
                <a:srgbClr val="2B2C30"/>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1152475"/>
            <a:ext cx="8520600" cy="3672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Hypothesis: </a:t>
            </a:r>
            <a:r>
              <a:rPr lang="en">
                <a:solidFill>
                  <a:srgbClr val="2B2C30"/>
                </a:solidFill>
                <a:latin typeface="Public Sans Thin"/>
                <a:ea typeface="Public Sans Thin"/>
                <a:cs typeface="Public Sans Thin"/>
                <a:sym typeface="Public Sans Thin"/>
              </a:rPr>
              <a:t>T</a:t>
            </a:r>
            <a:r>
              <a:rPr lang="en">
                <a:solidFill>
                  <a:srgbClr val="2B2C30"/>
                </a:solidFill>
                <a:latin typeface="Public Sans Thin"/>
                <a:ea typeface="Public Sans Thin"/>
                <a:cs typeface="Public Sans Thin"/>
                <a:sym typeface="Public Sans Thin"/>
              </a:rPr>
              <a:t>here</a:t>
            </a:r>
            <a:r>
              <a:rPr lang="en">
                <a:solidFill>
                  <a:srgbClr val="2B2C30"/>
                </a:solidFill>
                <a:latin typeface="Public Sans Thin"/>
                <a:ea typeface="Public Sans Thin"/>
                <a:cs typeface="Public Sans Thin"/>
                <a:sym typeface="Public Sans Thin"/>
              </a:rPr>
              <a:t> are</a:t>
            </a:r>
            <a:r>
              <a:rPr lang="en">
                <a:solidFill>
                  <a:srgbClr val="2B2C30"/>
                </a:solidFill>
                <a:latin typeface="Public Sans Thin"/>
                <a:ea typeface="Public Sans Thin"/>
                <a:cs typeface="Public Sans Thin"/>
                <a:sym typeface="Public Sans Thin"/>
              </a:rPr>
              <a:t> learnosity question types that certain groups of students succeeded at more than others. </a:t>
            </a:r>
            <a:endParaRPr>
              <a:solidFill>
                <a:srgbClr val="2B2C30"/>
              </a:solidFill>
              <a:latin typeface="Public Sans Thin"/>
              <a:ea typeface="Public Sans Thin"/>
              <a:cs typeface="Public Sans Thin"/>
              <a:sym typeface="Public Sans Thin"/>
            </a:endParaRPr>
          </a:p>
          <a:p>
            <a:pPr indent="0" lvl="0" marL="0" rtl="0" algn="l">
              <a:spcBef>
                <a:spcPts val="1200"/>
              </a:spcBef>
              <a:spcAft>
                <a:spcPts val="0"/>
              </a:spcAft>
              <a:buNone/>
            </a:pPr>
            <a:r>
              <a:rPr lang="en">
                <a:solidFill>
                  <a:srgbClr val="2B2C30"/>
                </a:solidFill>
                <a:latin typeface="Public Sans Thin"/>
                <a:ea typeface="Public Sans Thin"/>
                <a:cs typeface="Public Sans Thin"/>
                <a:sym typeface="Public Sans Thin"/>
              </a:rPr>
              <a:t>In order to make our data analysis simple, we only used information from the </a:t>
            </a:r>
            <a:r>
              <a:rPr i="1" lang="en">
                <a:solidFill>
                  <a:srgbClr val="2B2C30"/>
                </a:solidFill>
                <a:latin typeface="Public Sans Thin"/>
                <a:ea typeface="Public Sans Thin"/>
                <a:cs typeface="Public Sans Thin"/>
                <a:sym typeface="Public Sans Thin"/>
              </a:rPr>
              <a:t>College / Statistics and Data Science (ABC)</a:t>
            </a:r>
            <a:r>
              <a:rPr lang="en">
                <a:solidFill>
                  <a:srgbClr val="2B2C30"/>
                </a:solidFill>
                <a:latin typeface="Public Sans Thin"/>
                <a:ea typeface="Public Sans Thin"/>
                <a:cs typeface="Public Sans Thin"/>
                <a:sym typeface="Public Sans Thin"/>
              </a:rPr>
              <a:t> book. </a:t>
            </a:r>
            <a:endParaRPr>
              <a:solidFill>
                <a:srgbClr val="2B2C30"/>
              </a:solidFill>
              <a:latin typeface="Public Sans Thin"/>
              <a:ea typeface="Public Sans Thin"/>
              <a:cs typeface="Public Sans Thin"/>
              <a:sym typeface="Public Sans Thin"/>
            </a:endParaRPr>
          </a:p>
          <a:p>
            <a:pPr indent="-334327" lvl="0" marL="457200" rtl="0" algn="l">
              <a:spcBef>
                <a:spcPts val="1200"/>
              </a:spcBef>
              <a:spcAft>
                <a:spcPts val="0"/>
              </a:spcAft>
              <a:buClr>
                <a:srgbClr val="2B2C30"/>
              </a:buClr>
              <a:buSzPct val="100000"/>
              <a:buFont typeface="Public Sans Thin"/>
              <a:buAutoNum type="arabicPeriod"/>
            </a:pPr>
            <a:r>
              <a:rPr lang="en">
                <a:solidFill>
                  <a:srgbClr val="2B2C30"/>
                </a:solidFill>
                <a:latin typeface="Public Sans Thin"/>
                <a:ea typeface="Public Sans Thin"/>
                <a:cs typeface="Public Sans Thin"/>
                <a:sym typeface="Public Sans Thin"/>
              </a:rPr>
              <a:t>To test our hypothesis, we first merged each csv by student_id, so we had all information for that student in one location. </a:t>
            </a:r>
            <a:endParaRPr>
              <a:solidFill>
                <a:srgbClr val="2B2C30"/>
              </a:solidFill>
              <a:latin typeface="Public Sans Thin"/>
              <a:ea typeface="Public Sans Thin"/>
              <a:cs typeface="Public Sans Thin"/>
              <a:sym typeface="Public Sans Thin"/>
            </a:endParaRPr>
          </a:p>
          <a:p>
            <a:pPr indent="-334327" lvl="0" marL="457200" rtl="0" algn="l">
              <a:spcBef>
                <a:spcPts val="0"/>
              </a:spcBef>
              <a:spcAft>
                <a:spcPts val="0"/>
              </a:spcAft>
              <a:buClr>
                <a:srgbClr val="2B2C30"/>
              </a:buClr>
              <a:buSzPct val="100000"/>
              <a:buFont typeface="Public Sans Thin"/>
              <a:buAutoNum type="arabicPeriod"/>
            </a:pPr>
            <a:r>
              <a:rPr lang="en">
                <a:solidFill>
                  <a:srgbClr val="2B2C30"/>
                </a:solidFill>
                <a:latin typeface="Public Sans Thin"/>
                <a:ea typeface="Public Sans Thin"/>
                <a:cs typeface="Public Sans Thin"/>
                <a:sym typeface="Public Sans Thin"/>
              </a:rPr>
              <a:t>We then grouped them into 4 groups corresponding to their percentile based on EOC response correctness across chapters. (25th, 50th, 75th, 100th). </a:t>
            </a:r>
            <a:endParaRPr>
              <a:solidFill>
                <a:srgbClr val="2B2C30"/>
              </a:solidFill>
              <a:latin typeface="Public Sans Thin"/>
              <a:ea typeface="Public Sans Thin"/>
              <a:cs typeface="Public Sans Thin"/>
              <a:sym typeface="Public Sans Thin"/>
            </a:endParaRPr>
          </a:p>
          <a:p>
            <a:pPr indent="-334327" lvl="0" marL="457200" rtl="0" algn="l">
              <a:spcBef>
                <a:spcPts val="0"/>
              </a:spcBef>
              <a:spcAft>
                <a:spcPts val="0"/>
              </a:spcAft>
              <a:buClr>
                <a:srgbClr val="2B2C30"/>
              </a:buClr>
              <a:buSzPct val="100000"/>
              <a:buFont typeface="Public Sans Thin"/>
              <a:buAutoNum type="arabicPeriod"/>
            </a:pPr>
            <a:r>
              <a:rPr lang="en">
                <a:solidFill>
                  <a:srgbClr val="2B2C30"/>
                </a:solidFill>
                <a:latin typeface="Public Sans Thin"/>
                <a:ea typeface="Public Sans Thin"/>
                <a:cs typeface="Public Sans Thin"/>
                <a:sym typeface="Public Sans Thin"/>
              </a:rPr>
              <a:t>We then analyzed the EOC averages of each learnosity question type in hopes of finding patterns based on students’ percentile.</a:t>
            </a:r>
            <a:endParaRPr>
              <a:solidFill>
                <a:srgbClr val="2B2C30"/>
              </a:solidFill>
              <a:latin typeface="Public Sans Thin"/>
              <a:ea typeface="Public Sans Thin"/>
              <a:cs typeface="Public Sans Thin"/>
              <a:sym typeface="Public Sans Thin"/>
            </a:endParaRPr>
          </a:p>
          <a:p>
            <a:pPr indent="0" lvl="0" marL="0" rtl="0" algn="l">
              <a:spcBef>
                <a:spcPts val="1200"/>
              </a:spcBef>
              <a:spcAft>
                <a:spcPts val="1200"/>
              </a:spcAft>
              <a:buNone/>
            </a:pPr>
            <a:r>
              <a:rPr lang="en">
                <a:solidFill>
                  <a:srgbClr val="2B2C30"/>
                </a:solidFill>
                <a:latin typeface="Public Sans Thin"/>
                <a:ea typeface="Public Sans Thin"/>
                <a:cs typeface="Public Sans Thin"/>
                <a:sym typeface="Public Sans Thin"/>
              </a:rPr>
              <a:t>We’ll use this information to make recommendations to CourseKata on how best to work towards their goal of improving statistical learning.</a:t>
            </a:r>
            <a:endParaRPr>
              <a:solidFill>
                <a:srgbClr val="2B2C30"/>
              </a:solidFill>
              <a:latin typeface="Public Sans Thin"/>
              <a:ea typeface="Public Sans Thin"/>
              <a:cs typeface="Public Sans Thin"/>
              <a:sym typeface="Public Sans Thin"/>
            </a:endParaRPr>
          </a:p>
        </p:txBody>
      </p:sp>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Hypothesis and Thoughts</a:t>
            </a:r>
            <a:endParaRPr b="1">
              <a:solidFill>
                <a:srgbClr val="2B2C30"/>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6"/>
          <p:cNvSpPr txBox="1"/>
          <p:nvPr>
            <p:ph type="title"/>
          </p:nvPr>
        </p:nvSpPr>
        <p:spPr>
          <a:xfrm>
            <a:off x="311700" y="13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1: Distribution of Question Type per Chapter</a:t>
            </a:r>
            <a:endParaRPr b="1">
              <a:solidFill>
                <a:srgbClr val="2B2C30"/>
              </a:solidFill>
              <a:latin typeface="Public Sans"/>
              <a:ea typeface="Public Sans"/>
              <a:cs typeface="Public Sans"/>
              <a:sym typeface="Public Sans"/>
            </a:endParaRPr>
          </a:p>
        </p:txBody>
      </p:sp>
      <p:sp>
        <p:nvSpPr>
          <p:cNvPr id="74" name="Google Shape;74;p16"/>
          <p:cNvSpPr txBox="1"/>
          <p:nvPr/>
        </p:nvSpPr>
        <p:spPr>
          <a:xfrm>
            <a:off x="6149825" y="586750"/>
            <a:ext cx="2864100" cy="44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B2C30"/>
                </a:solidFill>
                <a:latin typeface="Public Sans"/>
                <a:ea typeface="Public Sans"/>
                <a:cs typeface="Public Sans"/>
                <a:sym typeface="Public Sans"/>
              </a:rPr>
              <a:t>Observations:</a:t>
            </a:r>
            <a:endParaRPr sz="1800">
              <a:solidFill>
                <a:srgbClr val="2B2C30"/>
              </a:solidFill>
              <a:latin typeface="Public Sans"/>
              <a:ea typeface="Public Sans"/>
              <a:cs typeface="Public Sans"/>
              <a:sym typeface="Public Sans"/>
            </a:endParaRPr>
          </a:p>
          <a:p>
            <a:pPr indent="-342900" lvl="0" marL="457200" rtl="0" algn="l">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Multiple choice questions make up the majority of questions in each chapter</a:t>
            </a:r>
            <a:endParaRPr sz="1800">
              <a:solidFill>
                <a:srgbClr val="2B2C30"/>
              </a:solidFill>
              <a:latin typeface="Public Sans Thin"/>
              <a:ea typeface="Public Sans Thin"/>
              <a:cs typeface="Public Sans Thin"/>
              <a:sym typeface="Public Sans Thin"/>
            </a:endParaRPr>
          </a:p>
          <a:p>
            <a:pPr indent="0" lvl="0" marL="457200" rtl="0" algn="l">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342900" lvl="0" marL="457200" rtl="0" algn="l">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Long text response have the second highest probability</a:t>
            </a:r>
            <a:endParaRPr sz="1800">
              <a:solidFill>
                <a:srgbClr val="2B2C30"/>
              </a:solidFill>
              <a:latin typeface="Public Sans Thin"/>
              <a:ea typeface="Public Sans Thin"/>
              <a:cs typeface="Public Sans Thin"/>
              <a:sym typeface="Public Sans Thin"/>
            </a:endParaRPr>
          </a:p>
          <a:p>
            <a:pPr indent="0" lvl="0" marL="457200" rtl="0" algn="l">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342900" lvl="0" marL="457200" rtl="0" algn="l">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Ordering problems are only present in one chapter</a:t>
            </a:r>
            <a:endParaRPr sz="1800">
              <a:solidFill>
                <a:srgbClr val="2B2C30"/>
              </a:solidFill>
              <a:latin typeface="Public Sans Thin"/>
              <a:ea typeface="Public Sans Thin"/>
              <a:cs typeface="Public Sans Thin"/>
              <a:sym typeface="Public Sans Thin"/>
            </a:endParaRPr>
          </a:p>
          <a:p>
            <a:pPr indent="0" lvl="0" marL="457200" rtl="0" algn="l">
              <a:spcBef>
                <a:spcPts val="0"/>
              </a:spcBef>
              <a:spcAft>
                <a:spcPts val="0"/>
              </a:spcAft>
              <a:buNone/>
            </a:pPr>
            <a:r>
              <a:t/>
            </a:r>
            <a:endParaRPr sz="1800">
              <a:solidFill>
                <a:srgbClr val="2B2C30"/>
              </a:solidFill>
              <a:latin typeface="Public Sans Thin"/>
              <a:ea typeface="Public Sans Thin"/>
              <a:cs typeface="Public Sans Thin"/>
              <a:sym typeface="Public Sans Thin"/>
            </a:endParaRPr>
          </a:p>
        </p:txBody>
      </p:sp>
      <p:pic>
        <p:nvPicPr>
          <p:cNvPr id="75" name="Google Shape;75;p16"/>
          <p:cNvPicPr preferRelativeResize="0"/>
          <p:nvPr/>
        </p:nvPicPr>
        <p:blipFill>
          <a:blip r:embed="rId3">
            <a:alphaModFix/>
          </a:blip>
          <a:stretch>
            <a:fillRect/>
          </a:stretch>
        </p:blipFill>
        <p:spPr>
          <a:xfrm>
            <a:off x="604025" y="669175"/>
            <a:ext cx="5369951" cy="4299750"/>
          </a:xfrm>
          <a:prstGeom prst="rect">
            <a:avLst/>
          </a:prstGeom>
          <a:noFill/>
          <a:ln cap="flat" cmpd="sng" w="19050">
            <a:solidFill>
              <a:srgbClr val="2B2C30"/>
            </a:solidFill>
            <a:prstDash val="solid"/>
            <a:round/>
            <a:headEnd len="sm" w="sm" type="none"/>
            <a:tailEnd len="sm" w="sm" type="none"/>
          </a:ln>
        </p:spPr>
      </p:pic>
      <p:cxnSp>
        <p:nvCxnSpPr>
          <p:cNvPr id="76" name="Google Shape;76;p16"/>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7"/>
          <p:cNvSpPr txBox="1"/>
          <p:nvPr>
            <p:ph type="title"/>
          </p:nvPr>
        </p:nvSpPr>
        <p:spPr>
          <a:xfrm>
            <a:off x="140850" y="47275"/>
            <a:ext cx="886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2: Distribution of EOC Values by Percentile Group</a:t>
            </a:r>
            <a:endParaRPr b="1">
              <a:solidFill>
                <a:srgbClr val="2B2C30"/>
              </a:solidFill>
              <a:latin typeface="Public Sans"/>
              <a:ea typeface="Public Sans"/>
              <a:cs typeface="Public Sans"/>
              <a:sym typeface="Public Sans"/>
            </a:endParaRPr>
          </a:p>
        </p:txBody>
      </p:sp>
      <p:pic>
        <p:nvPicPr>
          <p:cNvPr id="83" name="Google Shape;83;p17"/>
          <p:cNvPicPr preferRelativeResize="0"/>
          <p:nvPr/>
        </p:nvPicPr>
        <p:blipFill>
          <a:blip r:embed="rId3">
            <a:alphaModFix/>
          </a:blip>
          <a:stretch>
            <a:fillRect/>
          </a:stretch>
        </p:blipFill>
        <p:spPr>
          <a:xfrm>
            <a:off x="218650" y="781950"/>
            <a:ext cx="6025801" cy="4221224"/>
          </a:xfrm>
          <a:prstGeom prst="rect">
            <a:avLst/>
          </a:prstGeom>
          <a:noFill/>
          <a:ln cap="flat" cmpd="sng" w="19050">
            <a:solidFill>
              <a:srgbClr val="2B2C30"/>
            </a:solidFill>
            <a:prstDash val="solid"/>
            <a:round/>
            <a:headEnd len="sm" w="sm" type="none"/>
            <a:tailEnd len="sm" w="sm" type="none"/>
          </a:ln>
        </p:spPr>
      </p:pic>
      <p:sp>
        <p:nvSpPr>
          <p:cNvPr id="84" name="Google Shape;84;p17"/>
          <p:cNvSpPr txBox="1"/>
          <p:nvPr/>
        </p:nvSpPr>
        <p:spPr>
          <a:xfrm>
            <a:off x="6365475" y="619975"/>
            <a:ext cx="2729700" cy="446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2B2C30"/>
                </a:solidFill>
                <a:latin typeface="Public Sans"/>
                <a:ea typeface="Public Sans"/>
                <a:cs typeface="Public Sans"/>
                <a:sym typeface="Public Sans"/>
              </a:rPr>
              <a:t>Observations:</a:t>
            </a:r>
            <a:endParaRPr sz="1800">
              <a:solidFill>
                <a:srgbClr val="2B2C30"/>
              </a:solidFill>
              <a:latin typeface="Public Sans"/>
              <a:ea typeface="Public Sans"/>
              <a:cs typeface="Public Sans"/>
              <a:sym typeface="Public Sans"/>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25%-50% and 50%-75% have the least variations in scores</a:t>
            </a:r>
            <a:endParaRPr sz="1800">
              <a:solidFill>
                <a:srgbClr val="2B2C30"/>
              </a:solidFill>
              <a:latin typeface="Public Sans Thin"/>
              <a:ea typeface="Public Sans Thin"/>
              <a:cs typeface="Public Sans Thin"/>
              <a:sym typeface="Public Sans Thin"/>
            </a:endParaRPr>
          </a:p>
          <a:p>
            <a:pPr indent="0" lvl="0" marL="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0%-25% has the most amount of variation</a:t>
            </a:r>
            <a:endParaRPr sz="1800">
              <a:solidFill>
                <a:srgbClr val="2B2C30"/>
              </a:solidFill>
              <a:latin typeface="Public Sans Thin"/>
              <a:ea typeface="Public Sans Thin"/>
              <a:cs typeface="Public Sans Thin"/>
              <a:sym typeface="Public Sans Thin"/>
            </a:endParaRPr>
          </a:p>
          <a:p>
            <a:pPr indent="0" lvl="0" marL="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75%-100% has the most amount of outliers</a:t>
            </a:r>
            <a:endParaRPr sz="1800">
              <a:solidFill>
                <a:srgbClr val="2B2C30"/>
              </a:solidFill>
              <a:latin typeface="Public Sans Thin"/>
              <a:ea typeface="Public Sans Thin"/>
              <a:cs typeface="Public Sans Thin"/>
              <a:sym typeface="Public Sans Thin"/>
            </a:endParaRPr>
          </a:p>
          <a:p>
            <a:pPr indent="0" lvl="0" marL="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0" lvl="0" marL="45720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p:txBody>
      </p:sp>
      <p:cxnSp>
        <p:nvCxnSpPr>
          <p:cNvPr id="85" name="Google Shape;85;p17"/>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1" name="Google Shape;91;p18"/>
          <p:cNvPicPr preferRelativeResize="0"/>
          <p:nvPr/>
        </p:nvPicPr>
        <p:blipFill rotWithShape="1">
          <a:blip r:embed="rId3">
            <a:alphaModFix/>
          </a:blip>
          <a:srcRect b="0" l="0" r="0" t="0"/>
          <a:stretch/>
        </p:blipFill>
        <p:spPr>
          <a:xfrm>
            <a:off x="418400" y="825363"/>
            <a:ext cx="5099125" cy="4082875"/>
          </a:xfrm>
          <a:prstGeom prst="rect">
            <a:avLst/>
          </a:prstGeom>
          <a:noFill/>
          <a:ln cap="flat" cmpd="sng" w="19050">
            <a:solidFill>
              <a:srgbClr val="2B2C30"/>
            </a:solidFill>
            <a:prstDash val="solid"/>
            <a:round/>
            <a:headEnd len="sm" w="sm" type="none"/>
            <a:tailEnd len="sm" w="sm" type="none"/>
          </a:ln>
        </p:spPr>
      </p:pic>
      <p:sp>
        <p:nvSpPr>
          <p:cNvPr id="92" name="Google Shape;92;p18"/>
          <p:cNvSpPr txBox="1"/>
          <p:nvPr/>
        </p:nvSpPr>
        <p:spPr>
          <a:xfrm>
            <a:off x="5834025" y="1300138"/>
            <a:ext cx="3113100" cy="269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2B2C30"/>
                </a:solidFill>
                <a:latin typeface="Public Sans"/>
                <a:ea typeface="Public Sans"/>
                <a:cs typeface="Public Sans"/>
                <a:sym typeface="Public Sans"/>
              </a:rPr>
              <a:t>Observations:</a:t>
            </a:r>
            <a:endParaRPr sz="1800">
              <a:solidFill>
                <a:srgbClr val="2B2C30"/>
              </a:solidFill>
              <a:latin typeface="Public Sans"/>
              <a:ea typeface="Public Sans"/>
              <a:cs typeface="Public Sans"/>
              <a:sym typeface="Public Sans"/>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Fairly positive linear correlation</a:t>
            </a:r>
            <a:endParaRPr sz="1800">
              <a:solidFill>
                <a:srgbClr val="2B2C30"/>
              </a:solidFill>
              <a:latin typeface="Public Sans Thin"/>
              <a:ea typeface="Public Sans Thin"/>
              <a:cs typeface="Public Sans Thin"/>
              <a:sym typeface="Public Sans Thin"/>
            </a:endParaRPr>
          </a:p>
          <a:p>
            <a:pPr indent="0" lvl="0" marL="45720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We can see a slight incline in performance within the 25th percentile</a:t>
            </a:r>
            <a:endParaRPr sz="1800">
              <a:solidFill>
                <a:srgbClr val="2B2C30"/>
              </a:solidFill>
              <a:latin typeface="Public Sans Thin"/>
              <a:ea typeface="Public Sans Thin"/>
              <a:cs typeface="Public Sans Thin"/>
              <a:sym typeface="Public Sans Thin"/>
            </a:endParaRPr>
          </a:p>
          <a:p>
            <a:pPr indent="0" lvl="0" marL="0" rtl="0" algn="l">
              <a:lnSpc>
                <a:spcPct val="100000"/>
              </a:lnSpc>
              <a:spcBef>
                <a:spcPts val="0"/>
              </a:spcBef>
              <a:spcAft>
                <a:spcPts val="0"/>
              </a:spcAft>
              <a:buNone/>
            </a:pPr>
            <a:r>
              <a:t/>
            </a:r>
            <a:endParaRPr sz="1800">
              <a:solidFill>
                <a:srgbClr val="2B2C30"/>
              </a:solidFill>
              <a:latin typeface="Public Sans Thin"/>
              <a:ea typeface="Public Sans Thin"/>
              <a:cs typeface="Public Sans Thin"/>
              <a:sym typeface="Public Sans Thin"/>
            </a:endParaRPr>
          </a:p>
        </p:txBody>
      </p:sp>
      <p:cxnSp>
        <p:nvCxnSpPr>
          <p:cNvPr id="93" name="Google Shape;93;p18"/>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
        <p:nvSpPr>
          <p:cNvPr id="94" name="Google Shape;94;p18"/>
          <p:cNvSpPr txBox="1"/>
          <p:nvPr>
            <p:ph type="title"/>
          </p:nvPr>
        </p:nvSpPr>
        <p:spPr>
          <a:xfrm>
            <a:off x="140850" y="47275"/>
            <a:ext cx="886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2420">
                <a:solidFill>
                  <a:srgbClr val="2B2C30"/>
                </a:solidFill>
                <a:latin typeface="Public Sans"/>
                <a:ea typeface="Public Sans"/>
                <a:cs typeface="Public Sans"/>
                <a:sym typeface="Public Sans"/>
              </a:rPr>
              <a:t>Graph 3: Percentile vs EOC for total Learnosity Questions</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Clr>
                <a:schemeClr val="dk1"/>
              </a:buClr>
              <a:buSzPts val="990"/>
              <a:buFont typeface="Arial"/>
              <a:buNone/>
            </a:pPr>
            <a:r>
              <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SzPts val="990"/>
              <a:buNone/>
            </a:pPr>
            <a:r>
              <a:t/>
            </a:r>
            <a:endParaRPr b="1" sz="2420">
              <a:solidFill>
                <a:srgbClr val="2B2C30"/>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89325" y="47275"/>
            <a:ext cx="905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250">
                <a:solidFill>
                  <a:srgbClr val="2B2C30"/>
                </a:solidFill>
                <a:latin typeface="Public Sans"/>
                <a:ea typeface="Public Sans"/>
                <a:cs typeface="Public Sans"/>
                <a:sym typeface="Public Sans"/>
              </a:rPr>
              <a:t>Graph Group: EOC for Type of Learnosity Question by Percentile</a:t>
            </a:r>
            <a:endParaRPr b="1" sz="2250">
              <a:solidFill>
                <a:srgbClr val="2B2C30"/>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t/>
            </a:r>
            <a:endParaRPr b="1" sz="2250">
              <a:solidFill>
                <a:srgbClr val="2B2C30"/>
              </a:solidFill>
              <a:latin typeface="Public Sans"/>
              <a:ea typeface="Public Sans"/>
              <a:cs typeface="Public Sans"/>
              <a:sym typeface="Public Sans"/>
            </a:endParaRPr>
          </a:p>
          <a:p>
            <a:pPr indent="0" lvl="0" marL="0" rtl="0" algn="l">
              <a:spcBef>
                <a:spcPts val="0"/>
              </a:spcBef>
              <a:spcAft>
                <a:spcPts val="0"/>
              </a:spcAft>
              <a:buSzPts val="990"/>
              <a:buNone/>
            </a:pPr>
            <a:r>
              <a:t/>
            </a:r>
            <a:endParaRPr b="1" sz="2250">
              <a:solidFill>
                <a:srgbClr val="2B2C30"/>
              </a:solidFill>
              <a:latin typeface="Public Sans"/>
              <a:ea typeface="Public Sans"/>
              <a:cs typeface="Public Sans"/>
              <a:sym typeface="Public Sans"/>
            </a:endParaRPr>
          </a:p>
        </p:txBody>
      </p:sp>
      <p:sp>
        <p:nvSpPr>
          <p:cNvPr id="100" name="Google Shape;100;p19"/>
          <p:cNvSpPr/>
          <p:nvPr/>
        </p:nvSpPr>
        <p:spPr>
          <a:xfrm rot="5400000">
            <a:off x="6879913" y="2537625"/>
            <a:ext cx="2480400" cy="572700"/>
          </a:xfrm>
          <a:prstGeom prst="rect">
            <a:avLst/>
          </a:prstGeom>
          <a:solidFill>
            <a:srgbClr val="2B2C30"/>
          </a:solidFill>
          <a:ln cap="flat" cmpd="sng" w="9525">
            <a:solidFill>
              <a:srgbClr val="2B2C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B2C30"/>
              </a:solidFill>
            </a:endParaRPr>
          </a:p>
        </p:txBody>
      </p:sp>
      <p:sp>
        <p:nvSpPr>
          <p:cNvPr id="101" name="Google Shape;101;p19"/>
          <p:cNvSpPr/>
          <p:nvPr/>
        </p:nvSpPr>
        <p:spPr>
          <a:xfrm rot="5400000">
            <a:off x="798975" y="2559075"/>
            <a:ext cx="682800" cy="572700"/>
          </a:xfrm>
          <a:prstGeom prst="rect">
            <a:avLst/>
          </a:prstGeom>
          <a:solidFill>
            <a:srgbClr val="2B2C30"/>
          </a:solidFill>
          <a:ln cap="flat" cmpd="sng" w="9525">
            <a:solidFill>
              <a:srgbClr val="2B2C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B2C30"/>
              </a:solidFill>
            </a:endParaRPr>
          </a:p>
        </p:txBody>
      </p:sp>
      <p:sp>
        <p:nvSpPr>
          <p:cNvPr id="102" name="Google Shape;102;p19"/>
          <p:cNvSpPr/>
          <p:nvPr/>
        </p:nvSpPr>
        <p:spPr>
          <a:xfrm>
            <a:off x="698100" y="3569700"/>
            <a:ext cx="7747800" cy="572700"/>
          </a:xfrm>
          <a:prstGeom prst="rect">
            <a:avLst/>
          </a:prstGeom>
          <a:solidFill>
            <a:srgbClr val="2B2C30"/>
          </a:solidFill>
          <a:ln cap="flat" cmpd="sng" w="9525">
            <a:solidFill>
              <a:srgbClr val="2B2C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B2C30"/>
              </a:solidFill>
            </a:endParaRPr>
          </a:p>
        </p:txBody>
      </p:sp>
      <p:sp>
        <p:nvSpPr>
          <p:cNvPr id="103" name="Google Shape;103;p19"/>
          <p:cNvSpPr/>
          <p:nvPr/>
        </p:nvSpPr>
        <p:spPr>
          <a:xfrm>
            <a:off x="775050" y="1557500"/>
            <a:ext cx="7747800" cy="572700"/>
          </a:xfrm>
          <a:prstGeom prst="rect">
            <a:avLst/>
          </a:prstGeom>
          <a:solidFill>
            <a:srgbClr val="2B2C30"/>
          </a:solidFill>
          <a:ln cap="flat" cmpd="sng" w="9525">
            <a:solidFill>
              <a:srgbClr val="2B2C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B2C30"/>
              </a:solidFill>
              <a:highlight>
                <a:srgbClr val="4A86E8"/>
              </a:highlight>
            </a:endParaRPr>
          </a:p>
        </p:txBody>
      </p:sp>
      <p:pic>
        <p:nvPicPr>
          <p:cNvPr id="104" name="Google Shape;104;p19"/>
          <p:cNvPicPr preferRelativeResize="0"/>
          <p:nvPr/>
        </p:nvPicPr>
        <p:blipFill>
          <a:blip r:embed="rId3">
            <a:alphaModFix/>
          </a:blip>
          <a:stretch>
            <a:fillRect/>
          </a:stretch>
        </p:blipFill>
        <p:spPr>
          <a:xfrm>
            <a:off x="77325" y="992675"/>
            <a:ext cx="2126064" cy="1702350"/>
          </a:xfrm>
          <a:prstGeom prst="rect">
            <a:avLst/>
          </a:prstGeom>
          <a:noFill/>
          <a:ln cap="flat" cmpd="sng" w="19050">
            <a:solidFill>
              <a:srgbClr val="2B2C30"/>
            </a:solidFill>
            <a:prstDash val="solid"/>
            <a:round/>
            <a:headEnd len="sm" w="sm" type="none"/>
            <a:tailEnd len="sm" w="sm" type="none"/>
          </a:ln>
        </p:spPr>
      </p:pic>
      <p:pic>
        <p:nvPicPr>
          <p:cNvPr id="105" name="Google Shape;105;p19"/>
          <p:cNvPicPr preferRelativeResize="0"/>
          <p:nvPr/>
        </p:nvPicPr>
        <p:blipFill>
          <a:blip r:embed="rId4">
            <a:alphaModFix/>
          </a:blip>
          <a:stretch>
            <a:fillRect/>
          </a:stretch>
        </p:blipFill>
        <p:spPr>
          <a:xfrm>
            <a:off x="2385325" y="992676"/>
            <a:ext cx="2129825" cy="1702350"/>
          </a:xfrm>
          <a:prstGeom prst="rect">
            <a:avLst/>
          </a:prstGeom>
          <a:noFill/>
          <a:ln cap="flat" cmpd="sng" w="19050">
            <a:solidFill>
              <a:srgbClr val="2B2C30"/>
            </a:solidFill>
            <a:prstDash val="solid"/>
            <a:round/>
            <a:headEnd len="sm" w="sm" type="none"/>
            <a:tailEnd len="sm" w="sm" type="none"/>
          </a:ln>
        </p:spPr>
      </p:pic>
      <p:pic>
        <p:nvPicPr>
          <p:cNvPr id="106" name="Google Shape;106;p19"/>
          <p:cNvPicPr preferRelativeResize="0"/>
          <p:nvPr/>
        </p:nvPicPr>
        <p:blipFill>
          <a:blip r:embed="rId5">
            <a:alphaModFix/>
          </a:blip>
          <a:stretch>
            <a:fillRect/>
          </a:stretch>
        </p:blipFill>
        <p:spPr>
          <a:xfrm>
            <a:off x="2387209" y="3041838"/>
            <a:ext cx="2126075" cy="1699373"/>
          </a:xfrm>
          <a:prstGeom prst="rect">
            <a:avLst/>
          </a:prstGeom>
          <a:noFill/>
          <a:ln cap="flat" cmpd="sng" w="19050">
            <a:solidFill>
              <a:srgbClr val="2B2C30"/>
            </a:solidFill>
            <a:prstDash val="solid"/>
            <a:round/>
            <a:headEnd len="sm" w="sm" type="none"/>
            <a:tailEnd len="sm" w="sm" type="none"/>
          </a:ln>
        </p:spPr>
      </p:pic>
      <p:pic>
        <p:nvPicPr>
          <p:cNvPr id="107" name="Google Shape;107;p19"/>
          <p:cNvPicPr preferRelativeResize="0"/>
          <p:nvPr/>
        </p:nvPicPr>
        <p:blipFill>
          <a:blip r:embed="rId6">
            <a:alphaModFix/>
          </a:blip>
          <a:stretch>
            <a:fillRect/>
          </a:stretch>
        </p:blipFill>
        <p:spPr>
          <a:xfrm>
            <a:off x="77325" y="3041850"/>
            <a:ext cx="2126075" cy="1699355"/>
          </a:xfrm>
          <a:prstGeom prst="rect">
            <a:avLst/>
          </a:prstGeom>
          <a:noFill/>
          <a:ln cap="flat" cmpd="sng" w="19050">
            <a:solidFill>
              <a:srgbClr val="2B2C30"/>
            </a:solidFill>
            <a:prstDash val="solid"/>
            <a:round/>
            <a:headEnd len="sm" w="sm" type="none"/>
            <a:tailEnd len="sm" w="sm" type="none"/>
          </a:ln>
        </p:spPr>
      </p:pic>
      <p:pic>
        <p:nvPicPr>
          <p:cNvPr id="108" name="Google Shape;108;p19"/>
          <p:cNvPicPr preferRelativeResize="0"/>
          <p:nvPr/>
        </p:nvPicPr>
        <p:blipFill>
          <a:blip r:embed="rId7">
            <a:alphaModFix/>
          </a:blip>
          <a:stretch>
            <a:fillRect/>
          </a:stretch>
        </p:blipFill>
        <p:spPr>
          <a:xfrm>
            <a:off x="4663900" y="994184"/>
            <a:ext cx="2126075" cy="1699344"/>
          </a:xfrm>
          <a:prstGeom prst="rect">
            <a:avLst/>
          </a:prstGeom>
          <a:noFill/>
          <a:ln cap="flat" cmpd="sng" w="19050">
            <a:solidFill>
              <a:srgbClr val="2B2C30"/>
            </a:solidFill>
            <a:prstDash val="solid"/>
            <a:round/>
            <a:headEnd len="sm" w="sm" type="none"/>
            <a:tailEnd len="sm" w="sm" type="none"/>
          </a:ln>
        </p:spPr>
      </p:pic>
      <p:pic>
        <p:nvPicPr>
          <p:cNvPr id="109" name="Google Shape;109;p19"/>
          <p:cNvPicPr preferRelativeResize="0"/>
          <p:nvPr/>
        </p:nvPicPr>
        <p:blipFill>
          <a:blip r:embed="rId8">
            <a:alphaModFix/>
          </a:blip>
          <a:stretch>
            <a:fillRect/>
          </a:stretch>
        </p:blipFill>
        <p:spPr>
          <a:xfrm>
            <a:off x="6940600" y="3041837"/>
            <a:ext cx="2126075" cy="1699370"/>
          </a:xfrm>
          <a:prstGeom prst="rect">
            <a:avLst/>
          </a:prstGeom>
          <a:noFill/>
          <a:ln cap="flat" cmpd="sng" w="19050">
            <a:solidFill>
              <a:srgbClr val="2B2C30"/>
            </a:solidFill>
            <a:prstDash val="solid"/>
            <a:round/>
            <a:headEnd len="sm" w="sm" type="none"/>
            <a:tailEnd len="sm" w="sm" type="none"/>
          </a:ln>
        </p:spPr>
      </p:pic>
      <p:pic>
        <p:nvPicPr>
          <p:cNvPr id="110" name="Google Shape;110;p19"/>
          <p:cNvPicPr preferRelativeResize="0"/>
          <p:nvPr/>
        </p:nvPicPr>
        <p:blipFill>
          <a:blip r:embed="rId9">
            <a:alphaModFix/>
          </a:blip>
          <a:stretch>
            <a:fillRect/>
          </a:stretch>
        </p:blipFill>
        <p:spPr>
          <a:xfrm>
            <a:off x="6938725" y="994163"/>
            <a:ext cx="2126075" cy="1699373"/>
          </a:xfrm>
          <a:prstGeom prst="rect">
            <a:avLst/>
          </a:prstGeom>
          <a:noFill/>
          <a:ln cap="flat" cmpd="sng" w="19050">
            <a:solidFill>
              <a:srgbClr val="2B2C30"/>
            </a:solidFill>
            <a:prstDash val="solid"/>
            <a:round/>
            <a:headEnd len="sm" w="sm" type="none"/>
            <a:tailEnd len="sm" w="sm" type="none"/>
          </a:ln>
        </p:spPr>
      </p:pic>
      <p:pic>
        <p:nvPicPr>
          <p:cNvPr id="111" name="Google Shape;111;p19"/>
          <p:cNvPicPr preferRelativeResize="0"/>
          <p:nvPr/>
        </p:nvPicPr>
        <p:blipFill>
          <a:blip r:embed="rId10">
            <a:alphaModFix/>
          </a:blip>
          <a:stretch>
            <a:fillRect/>
          </a:stretch>
        </p:blipFill>
        <p:spPr>
          <a:xfrm>
            <a:off x="4663900" y="3041833"/>
            <a:ext cx="2126075" cy="1699367"/>
          </a:xfrm>
          <a:prstGeom prst="rect">
            <a:avLst/>
          </a:prstGeom>
          <a:noFill/>
          <a:ln cap="flat" cmpd="sng" w="19050">
            <a:solidFill>
              <a:srgbClr val="2B2C30"/>
            </a:solidFill>
            <a:prstDash val="solid"/>
            <a:round/>
            <a:headEnd len="sm" w="sm" type="none"/>
            <a:tailEnd len="sm" w="sm" type="none"/>
          </a:ln>
        </p:spPr>
      </p:pic>
      <p:cxnSp>
        <p:nvCxnSpPr>
          <p:cNvPr id="112" name="Google Shape;112;p19"/>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
        <p:nvSpPr>
          <p:cNvPr id="113" name="Google Shape;113;p19"/>
          <p:cNvSpPr txBox="1"/>
          <p:nvPr/>
        </p:nvSpPr>
        <p:spPr>
          <a:xfrm>
            <a:off x="77300" y="4695250"/>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35 ST Questions</a:t>
            </a:r>
            <a:endParaRPr b="1" sz="1300">
              <a:solidFill>
                <a:srgbClr val="2B2C30"/>
              </a:solidFill>
              <a:latin typeface="Public Sans"/>
              <a:ea typeface="Public Sans"/>
              <a:cs typeface="Public Sans"/>
              <a:sym typeface="Public Sans"/>
            </a:endParaRPr>
          </a:p>
        </p:txBody>
      </p:sp>
      <p:sp>
        <p:nvSpPr>
          <p:cNvPr id="114" name="Google Shape;114;p19"/>
          <p:cNvSpPr txBox="1"/>
          <p:nvPr/>
        </p:nvSpPr>
        <p:spPr>
          <a:xfrm>
            <a:off x="2370600" y="4679950"/>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4</a:t>
            </a:r>
            <a:r>
              <a:rPr b="1" lang="en" sz="1300">
                <a:solidFill>
                  <a:srgbClr val="2B2C30"/>
                </a:solidFill>
                <a:latin typeface="Public Sans"/>
                <a:ea typeface="Public Sans"/>
                <a:cs typeface="Public Sans"/>
                <a:sym typeface="Public Sans"/>
              </a:rPr>
              <a:t>5 CM Questions</a:t>
            </a:r>
            <a:endParaRPr b="1" sz="1300">
              <a:solidFill>
                <a:srgbClr val="2B2C30"/>
              </a:solidFill>
              <a:latin typeface="Public Sans"/>
              <a:ea typeface="Public Sans"/>
              <a:cs typeface="Public Sans"/>
              <a:sym typeface="Public Sans"/>
            </a:endParaRPr>
          </a:p>
        </p:txBody>
      </p:sp>
      <p:sp>
        <p:nvSpPr>
          <p:cNvPr id="115" name="Google Shape;115;p19"/>
          <p:cNvSpPr txBox="1"/>
          <p:nvPr/>
        </p:nvSpPr>
        <p:spPr>
          <a:xfrm>
            <a:off x="4655588" y="4695250"/>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1</a:t>
            </a:r>
            <a:r>
              <a:rPr b="1" lang="en" sz="1300">
                <a:solidFill>
                  <a:srgbClr val="2B2C30"/>
                </a:solidFill>
                <a:latin typeface="Public Sans"/>
                <a:ea typeface="Public Sans"/>
                <a:cs typeface="Public Sans"/>
                <a:sym typeface="Public Sans"/>
              </a:rPr>
              <a:t> FV2 Question</a:t>
            </a:r>
            <a:endParaRPr b="1" sz="1300">
              <a:solidFill>
                <a:srgbClr val="2B2C30"/>
              </a:solidFill>
              <a:latin typeface="Public Sans"/>
              <a:ea typeface="Public Sans"/>
              <a:cs typeface="Public Sans"/>
              <a:sym typeface="Public Sans"/>
            </a:endParaRPr>
          </a:p>
        </p:txBody>
      </p:sp>
      <p:sp>
        <p:nvSpPr>
          <p:cNvPr id="116" name="Google Shape;116;p19"/>
          <p:cNvSpPr txBox="1"/>
          <p:nvPr/>
        </p:nvSpPr>
        <p:spPr>
          <a:xfrm>
            <a:off x="6940588" y="4679950"/>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2</a:t>
            </a:r>
            <a:r>
              <a:rPr b="1" lang="en" sz="1300">
                <a:solidFill>
                  <a:srgbClr val="2B2C30"/>
                </a:solidFill>
                <a:latin typeface="Public Sans"/>
                <a:ea typeface="Public Sans"/>
                <a:cs typeface="Public Sans"/>
                <a:sym typeface="Public Sans"/>
              </a:rPr>
              <a:t> ICA Questions</a:t>
            </a:r>
            <a:endParaRPr b="1" sz="1300">
              <a:solidFill>
                <a:srgbClr val="2B2C30"/>
              </a:solidFill>
              <a:latin typeface="Public Sans"/>
              <a:ea typeface="Public Sans"/>
              <a:cs typeface="Public Sans"/>
              <a:sym typeface="Public Sans"/>
            </a:endParaRPr>
          </a:p>
        </p:txBody>
      </p:sp>
      <p:sp>
        <p:nvSpPr>
          <p:cNvPr id="117" name="Google Shape;117;p19"/>
          <p:cNvSpPr txBox="1"/>
          <p:nvPr/>
        </p:nvSpPr>
        <p:spPr>
          <a:xfrm>
            <a:off x="110475" y="610688"/>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785</a:t>
            </a:r>
            <a:r>
              <a:rPr b="1" lang="en" sz="1300">
                <a:solidFill>
                  <a:srgbClr val="2B2C30"/>
                </a:solidFill>
                <a:latin typeface="Public Sans"/>
                <a:ea typeface="Public Sans"/>
                <a:cs typeface="Public Sans"/>
                <a:sym typeface="Public Sans"/>
              </a:rPr>
              <a:t> MC Questions</a:t>
            </a:r>
            <a:endParaRPr b="1" sz="1300">
              <a:solidFill>
                <a:srgbClr val="2B2C30"/>
              </a:solidFill>
              <a:latin typeface="Public Sans"/>
              <a:ea typeface="Public Sans"/>
              <a:cs typeface="Public Sans"/>
              <a:sym typeface="Public Sans"/>
            </a:endParaRPr>
          </a:p>
        </p:txBody>
      </p:sp>
      <p:sp>
        <p:nvSpPr>
          <p:cNvPr id="118" name="Google Shape;118;p19"/>
          <p:cNvSpPr txBox="1"/>
          <p:nvPr/>
        </p:nvSpPr>
        <p:spPr>
          <a:xfrm>
            <a:off x="2370600" y="610700"/>
            <a:ext cx="2557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28</a:t>
            </a:r>
            <a:r>
              <a:rPr b="1" lang="en" sz="1300">
                <a:solidFill>
                  <a:srgbClr val="2B2C30"/>
                </a:solidFill>
                <a:latin typeface="Public Sans"/>
                <a:ea typeface="Public Sans"/>
                <a:cs typeface="Public Sans"/>
                <a:sym typeface="Public Sans"/>
              </a:rPr>
              <a:t> Association Questions</a:t>
            </a:r>
            <a:endParaRPr b="1" sz="1300">
              <a:solidFill>
                <a:srgbClr val="2B2C30"/>
              </a:solidFill>
              <a:latin typeface="Public Sans"/>
              <a:ea typeface="Public Sans"/>
              <a:cs typeface="Public Sans"/>
              <a:sym typeface="Public Sans"/>
            </a:endParaRPr>
          </a:p>
        </p:txBody>
      </p:sp>
      <p:sp>
        <p:nvSpPr>
          <p:cNvPr id="119" name="Google Shape;119;p19"/>
          <p:cNvSpPr txBox="1"/>
          <p:nvPr/>
        </p:nvSpPr>
        <p:spPr>
          <a:xfrm>
            <a:off x="4663875" y="610688"/>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5 CA</a:t>
            </a:r>
            <a:r>
              <a:rPr b="1" lang="en" sz="1300">
                <a:solidFill>
                  <a:srgbClr val="2B2C30"/>
                </a:solidFill>
                <a:latin typeface="Public Sans"/>
                <a:ea typeface="Public Sans"/>
                <a:cs typeface="Public Sans"/>
                <a:sym typeface="Public Sans"/>
              </a:rPr>
              <a:t> Questions</a:t>
            </a:r>
            <a:endParaRPr b="1" sz="1300">
              <a:solidFill>
                <a:srgbClr val="2B2C30"/>
              </a:solidFill>
              <a:latin typeface="Public Sans"/>
              <a:ea typeface="Public Sans"/>
              <a:cs typeface="Public Sans"/>
              <a:sym typeface="Public Sans"/>
            </a:endParaRPr>
          </a:p>
        </p:txBody>
      </p:sp>
      <p:sp>
        <p:nvSpPr>
          <p:cNvPr id="120" name="Google Shape;120;p19"/>
          <p:cNvSpPr txBox="1"/>
          <p:nvPr/>
        </p:nvSpPr>
        <p:spPr>
          <a:xfrm>
            <a:off x="6938725" y="610688"/>
            <a:ext cx="212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2B2C30"/>
                </a:solidFill>
                <a:latin typeface="Public Sans"/>
                <a:ea typeface="Public Sans"/>
                <a:cs typeface="Public Sans"/>
                <a:sym typeface="Public Sans"/>
              </a:rPr>
              <a:t>1</a:t>
            </a:r>
            <a:r>
              <a:rPr b="1" lang="en" sz="1300">
                <a:solidFill>
                  <a:srgbClr val="2B2C30"/>
                </a:solidFill>
                <a:latin typeface="Public Sans"/>
                <a:ea typeface="Public Sans"/>
                <a:cs typeface="Public Sans"/>
                <a:sym typeface="Public Sans"/>
              </a:rPr>
              <a:t> SL Question</a:t>
            </a:r>
            <a:endParaRPr b="1" sz="1300">
              <a:solidFill>
                <a:srgbClr val="2B2C30"/>
              </a:solidFill>
              <a:latin typeface="Public Sans"/>
              <a:ea typeface="Public Sans"/>
              <a:cs typeface="Public Sans"/>
              <a:sym typeface="Public Sans"/>
            </a:endParaRPr>
          </a:p>
        </p:txBody>
      </p:sp>
      <p:sp>
        <p:nvSpPr>
          <p:cNvPr id="121" name="Google Shape;121;p19"/>
          <p:cNvSpPr/>
          <p:nvPr/>
        </p:nvSpPr>
        <p:spPr>
          <a:xfrm rot="-2700000">
            <a:off x="4858269" y="1002755"/>
            <a:ext cx="1737361" cy="1682207"/>
          </a:xfrm>
          <a:prstGeom prst="plus">
            <a:avLst>
              <a:gd fmla="val 37954"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9"/>
          <p:cNvSpPr/>
          <p:nvPr/>
        </p:nvSpPr>
        <p:spPr>
          <a:xfrm rot="-2700000">
            <a:off x="7134969" y="1002755"/>
            <a:ext cx="1737361" cy="1682207"/>
          </a:xfrm>
          <a:prstGeom prst="plus">
            <a:avLst>
              <a:gd fmla="val 37954"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9"/>
          <p:cNvSpPr/>
          <p:nvPr/>
        </p:nvSpPr>
        <p:spPr>
          <a:xfrm rot="-2700000">
            <a:off x="4858269" y="3014955"/>
            <a:ext cx="1737361" cy="1682207"/>
          </a:xfrm>
          <a:prstGeom prst="plus">
            <a:avLst>
              <a:gd fmla="val 37954"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9"/>
          <p:cNvSpPr/>
          <p:nvPr/>
        </p:nvSpPr>
        <p:spPr>
          <a:xfrm rot="-2700000">
            <a:off x="7251444" y="3014955"/>
            <a:ext cx="1737361" cy="1682207"/>
          </a:xfrm>
          <a:prstGeom prst="plus">
            <a:avLst>
              <a:gd fmla="val 37954"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300"/>
                                        <p:tgtEl>
                                          <p:spTgt spid="121"/>
                                        </p:tgtEl>
                                        <p:attrNameLst>
                                          <p:attrName>ppt_w</p:attrName>
                                        </p:attrNameLst>
                                      </p:cBhvr>
                                      <p:tavLst>
                                        <p:tav fmla="" tm="0">
                                          <p:val>
                                            <p:strVal val="0"/>
                                          </p:val>
                                        </p:tav>
                                        <p:tav fmla="" tm="100000">
                                          <p:val>
                                            <p:strVal val="#ppt_w"/>
                                          </p:val>
                                        </p:tav>
                                      </p:tavLst>
                                    </p:anim>
                                    <p:anim calcmode="lin" valueType="num">
                                      <p:cBhvr additive="base">
                                        <p:cTn dur="300"/>
                                        <p:tgtEl>
                                          <p:spTgt spid="12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300"/>
                                        <p:tgtEl>
                                          <p:spTgt spid="122"/>
                                        </p:tgtEl>
                                        <p:attrNameLst>
                                          <p:attrName>ppt_w</p:attrName>
                                        </p:attrNameLst>
                                      </p:cBhvr>
                                      <p:tavLst>
                                        <p:tav fmla="" tm="0">
                                          <p:val>
                                            <p:strVal val="0"/>
                                          </p:val>
                                        </p:tav>
                                        <p:tav fmla="" tm="100000">
                                          <p:val>
                                            <p:strVal val="#ppt_w"/>
                                          </p:val>
                                        </p:tav>
                                      </p:tavLst>
                                    </p:anim>
                                    <p:anim calcmode="lin" valueType="num">
                                      <p:cBhvr additive="base">
                                        <p:cTn dur="300"/>
                                        <p:tgtEl>
                                          <p:spTgt spid="12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300"/>
                                        <p:tgtEl>
                                          <p:spTgt spid="123"/>
                                        </p:tgtEl>
                                        <p:attrNameLst>
                                          <p:attrName>ppt_w</p:attrName>
                                        </p:attrNameLst>
                                      </p:cBhvr>
                                      <p:tavLst>
                                        <p:tav fmla="" tm="0">
                                          <p:val>
                                            <p:strVal val="0"/>
                                          </p:val>
                                        </p:tav>
                                        <p:tav fmla="" tm="100000">
                                          <p:val>
                                            <p:strVal val="#ppt_w"/>
                                          </p:val>
                                        </p:tav>
                                      </p:tavLst>
                                    </p:anim>
                                    <p:anim calcmode="lin" valueType="num">
                                      <p:cBhvr additive="base">
                                        <p:cTn dur="300"/>
                                        <p:tgtEl>
                                          <p:spTgt spid="12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300"/>
                                        <p:tgtEl>
                                          <p:spTgt spid="124"/>
                                        </p:tgtEl>
                                        <p:attrNameLst>
                                          <p:attrName>ppt_w</p:attrName>
                                        </p:attrNameLst>
                                      </p:cBhvr>
                                      <p:tavLst>
                                        <p:tav fmla="" tm="0">
                                          <p:val>
                                            <p:strVal val="0"/>
                                          </p:val>
                                        </p:tav>
                                        <p:tav fmla="" tm="100000">
                                          <p:val>
                                            <p:strVal val="#ppt_w"/>
                                          </p:val>
                                        </p:tav>
                                      </p:tavLst>
                                    </p:anim>
                                    <p:anim calcmode="lin" valueType="num">
                                      <p:cBhvr additive="base">
                                        <p:cTn dur="300"/>
                                        <p:tgtEl>
                                          <p:spTgt spid="1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0"/>
          <p:cNvSpPr txBox="1"/>
          <p:nvPr/>
        </p:nvSpPr>
        <p:spPr>
          <a:xfrm>
            <a:off x="5725475" y="530125"/>
            <a:ext cx="3347700" cy="26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rgbClr val="2B2C30"/>
                </a:solidFill>
                <a:latin typeface="Public Sans"/>
                <a:ea typeface="Public Sans"/>
                <a:cs typeface="Public Sans"/>
                <a:sym typeface="Public Sans"/>
              </a:rPr>
              <a:t>Observations:</a:t>
            </a:r>
            <a:endParaRPr sz="1700">
              <a:solidFill>
                <a:srgbClr val="2B2C30"/>
              </a:solidFill>
              <a:latin typeface="Public Sans"/>
              <a:ea typeface="Public Sans"/>
              <a:cs typeface="Public Sans"/>
              <a:sym typeface="Public Sans"/>
            </a:endParaRPr>
          </a:p>
          <a:p>
            <a:pPr indent="-336550" lvl="0" marL="457200" rtl="0" algn="l">
              <a:lnSpc>
                <a:spcPct val="100000"/>
              </a:lnSpc>
              <a:spcBef>
                <a:spcPts val="0"/>
              </a:spcBef>
              <a:spcAft>
                <a:spcPts val="0"/>
              </a:spcAft>
              <a:buClr>
                <a:srgbClr val="2B2C30"/>
              </a:buClr>
              <a:buSzPts val="1700"/>
              <a:buFont typeface="Public Sans Thin"/>
              <a:buChar char="-"/>
            </a:pPr>
            <a:r>
              <a:rPr lang="en" sz="1700">
                <a:solidFill>
                  <a:srgbClr val="2B2C30"/>
                </a:solidFill>
                <a:latin typeface="Public Sans Thin"/>
                <a:ea typeface="Public Sans Thin"/>
                <a:cs typeface="Public Sans Thin"/>
                <a:sym typeface="Public Sans Thin"/>
              </a:rPr>
              <a:t>Little difference between the average Choice Matrix EOCs of students who performed better overall and those who did not </a:t>
            </a:r>
            <a:endParaRPr sz="1700">
              <a:solidFill>
                <a:srgbClr val="2B2C30"/>
              </a:solidFill>
              <a:latin typeface="Public Sans Thin"/>
              <a:ea typeface="Public Sans Thin"/>
              <a:cs typeface="Public Sans Thin"/>
              <a:sym typeface="Public Sans Thin"/>
            </a:endParaRPr>
          </a:p>
          <a:p>
            <a:pPr indent="0" lvl="0" marL="0" rtl="0" algn="l">
              <a:lnSpc>
                <a:spcPct val="100000"/>
              </a:lnSpc>
              <a:spcBef>
                <a:spcPts val="0"/>
              </a:spcBef>
              <a:spcAft>
                <a:spcPts val="0"/>
              </a:spcAft>
              <a:buNone/>
            </a:pPr>
            <a:r>
              <a:t/>
            </a:r>
            <a:endParaRPr sz="1700">
              <a:solidFill>
                <a:srgbClr val="2B2C30"/>
              </a:solidFill>
              <a:latin typeface="Public Sans Thin"/>
              <a:ea typeface="Public Sans Thin"/>
              <a:cs typeface="Public Sans Thin"/>
              <a:sym typeface="Public Sans Thin"/>
            </a:endParaRPr>
          </a:p>
        </p:txBody>
      </p:sp>
      <p:sp>
        <p:nvSpPr>
          <p:cNvPr id="131" name="Google Shape;131;p20"/>
          <p:cNvSpPr txBox="1"/>
          <p:nvPr>
            <p:ph type="title"/>
          </p:nvPr>
        </p:nvSpPr>
        <p:spPr>
          <a:xfrm>
            <a:off x="311700" y="0"/>
            <a:ext cx="548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4: </a:t>
            </a:r>
            <a:r>
              <a:rPr b="1" lang="en">
                <a:solidFill>
                  <a:srgbClr val="2B2C30"/>
                </a:solidFill>
                <a:latin typeface="Public Sans"/>
                <a:ea typeface="Public Sans"/>
                <a:cs typeface="Public Sans"/>
                <a:sym typeface="Public Sans"/>
              </a:rPr>
              <a:t>Choice Matrix Questions</a:t>
            </a:r>
            <a:endParaRPr b="1">
              <a:solidFill>
                <a:srgbClr val="2B2C30"/>
              </a:solidFill>
              <a:latin typeface="Public Sans"/>
              <a:ea typeface="Public Sans"/>
              <a:cs typeface="Public Sans"/>
              <a:sym typeface="Public Sans"/>
            </a:endParaRPr>
          </a:p>
        </p:txBody>
      </p:sp>
      <p:pic>
        <p:nvPicPr>
          <p:cNvPr id="132" name="Google Shape;132;p20"/>
          <p:cNvPicPr preferRelativeResize="0"/>
          <p:nvPr/>
        </p:nvPicPr>
        <p:blipFill>
          <a:blip r:embed="rId3">
            <a:alphaModFix/>
          </a:blip>
          <a:stretch>
            <a:fillRect/>
          </a:stretch>
        </p:blipFill>
        <p:spPr>
          <a:xfrm>
            <a:off x="311700" y="753050"/>
            <a:ext cx="5289024" cy="4227494"/>
          </a:xfrm>
          <a:prstGeom prst="rect">
            <a:avLst/>
          </a:prstGeom>
          <a:noFill/>
          <a:ln cap="flat" cmpd="sng" w="19050">
            <a:solidFill>
              <a:srgbClr val="2B2C30"/>
            </a:solidFill>
            <a:prstDash val="solid"/>
            <a:round/>
            <a:headEnd len="sm" w="sm" type="none"/>
            <a:tailEnd len="sm" w="sm" type="none"/>
          </a:ln>
        </p:spPr>
      </p:pic>
      <p:pic>
        <p:nvPicPr>
          <p:cNvPr id="133" name="Google Shape;133;p20"/>
          <p:cNvPicPr preferRelativeResize="0"/>
          <p:nvPr/>
        </p:nvPicPr>
        <p:blipFill>
          <a:blip r:embed="rId4">
            <a:alphaModFix/>
          </a:blip>
          <a:stretch>
            <a:fillRect/>
          </a:stretch>
        </p:blipFill>
        <p:spPr>
          <a:xfrm>
            <a:off x="5725475" y="2459292"/>
            <a:ext cx="3262574" cy="2521257"/>
          </a:xfrm>
          <a:prstGeom prst="rect">
            <a:avLst/>
          </a:prstGeom>
          <a:noFill/>
          <a:ln cap="flat" cmpd="sng" w="19050">
            <a:solidFill>
              <a:schemeClr val="dk2"/>
            </a:solidFill>
            <a:prstDash val="solid"/>
            <a:round/>
            <a:headEnd len="sm" w="sm" type="none"/>
            <a:tailEnd len="sm" w="sm" type="none"/>
          </a:ln>
        </p:spPr>
      </p:pic>
      <p:cxnSp>
        <p:nvCxnSpPr>
          <p:cNvPr id="134" name="Google Shape;134;p20"/>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0" name="Google Shape;140;p21"/>
          <p:cNvPicPr preferRelativeResize="0"/>
          <p:nvPr/>
        </p:nvPicPr>
        <p:blipFill>
          <a:blip r:embed="rId3">
            <a:alphaModFix/>
          </a:blip>
          <a:stretch>
            <a:fillRect/>
          </a:stretch>
        </p:blipFill>
        <p:spPr>
          <a:xfrm>
            <a:off x="125350" y="1003275"/>
            <a:ext cx="4916699" cy="3936825"/>
          </a:xfrm>
          <a:prstGeom prst="rect">
            <a:avLst/>
          </a:prstGeom>
          <a:noFill/>
          <a:ln cap="flat" cmpd="sng" w="19050">
            <a:solidFill>
              <a:srgbClr val="2B2C30"/>
            </a:solidFill>
            <a:prstDash val="solid"/>
            <a:round/>
            <a:headEnd len="sm" w="sm" type="none"/>
            <a:tailEnd len="sm" w="sm" type="none"/>
          </a:ln>
        </p:spPr>
      </p:pic>
      <p:sp>
        <p:nvSpPr>
          <p:cNvPr id="141" name="Google Shape;141;p21"/>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5: Multiple Choice Questions</a:t>
            </a:r>
            <a:endParaRPr b="1">
              <a:solidFill>
                <a:srgbClr val="2B2C30"/>
              </a:solidFill>
              <a:latin typeface="Public Sans"/>
              <a:ea typeface="Public Sans"/>
              <a:cs typeface="Public Sans"/>
              <a:sym typeface="Public Sans"/>
            </a:endParaRPr>
          </a:p>
        </p:txBody>
      </p:sp>
      <p:sp>
        <p:nvSpPr>
          <p:cNvPr id="142" name="Google Shape;142;p21"/>
          <p:cNvSpPr txBox="1"/>
          <p:nvPr/>
        </p:nvSpPr>
        <p:spPr>
          <a:xfrm>
            <a:off x="5042050" y="857925"/>
            <a:ext cx="3913800" cy="207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2B2C30"/>
                </a:solidFill>
                <a:latin typeface="Public Sans"/>
                <a:ea typeface="Public Sans"/>
                <a:cs typeface="Public Sans"/>
                <a:sym typeface="Public Sans"/>
              </a:rPr>
              <a:t>Observations:</a:t>
            </a:r>
            <a:endParaRPr sz="1800">
              <a:solidFill>
                <a:srgbClr val="2B2C30"/>
              </a:solidFill>
              <a:latin typeface="Public Sans"/>
              <a:ea typeface="Public Sans"/>
              <a:cs typeface="Public Sans"/>
              <a:sym typeface="Public Sans"/>
            </a:endParaRPr>
          </a:p>
          <a:p>
            <a:pPr indent="-342900" lvl="0" marL="457200" rtl="0" algn="l">
              <a:lnSpc>
                <a:spcPct val="115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Fairly positive linear correlation</a:t>
            </a:r>
            <a:endParaRPr sz="1800">
              <a:solidFill>
                <a:srgbClr val="2B2C30"/>
              </a:solidFill>
              <a:latin typeface="Public Sans Thin"/>
              <a:ea typeface="Public Sans Thin"/>
              <a:cs typeface="Public Sans Thin"/>
              <a:sym typeface="Public Sans Thin"/>
            </a:endParaRPr>
          </a:p>
          <a:p>
            <a:pPr indent="-342900" lvl="0" marL="457200" rtl="0" algn="l">
              <a:lnSpc>
                <a:spcPct val="115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Steeper incline within 0%-25% and 75%-100%</a:t>
            </a:r>
            <a:endParaRPr sz="1800">
              <a:solidFill>
                <a:srgbClr val="2B2C30"/>
              </a:solidFill>
              <a:latin typeface="Public Sans Thin"/>
              <a:ea typeface="Public Sans Thin"/>
              <a:cs typeface="Public Sans Thin"/>
              <a:sym typeface="Public Sans Thin"/>
            </a:endParaRPr>
          </a:p>
          <a:p>
            <a:pPr indent="-342900" lvl="0" marL="457200" rtl="0" algn="l">
              <a:lnSpc>
                <a:spcPct val="115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Steadies off(flatter) in the middle 50%</a:t>
            </a:r>
            <a:endParaRPr sz="1800">
              <a:solidFill>
                <a:srgbClr val="2B2C30"/>
              </a:solidFill>
              <a:latin typeface="Public Sans Thin"/>
              <a:ea typeface="Public Sans Thin"/>
              <a:cs typeface="Public Sans Thin"/>
              <a:sym typeface="Public Sans Thin"/>
            </a:endParaRPr>
          </a:p>
        </p:txBody>
      </p:sp>
      <p:pic>
        <p:nvPicPr>
          <p:cNvPr id="143" name="Google Shape;143;p21"/>
          <p:cNvPicPr preferRelativeResize="0"/>
          <p:nvPr/>
        </p:nvPicPr>
        <p:blipFill>
          <a:blip r:embed="rId4">
            <a:alphaModFix/>
          </a:blip>
          <a:stretch>
            <a:fillRect/>
          </a:stretch>
        </p:blipFill>
        <p:spPr>
          <a:xfrm>
            <a:off x="5151350" y="3092075"/>
            <a:ext cx="3847676" cy="1848025"/>
          </a:xfrm>
          <a:prstGeom prst="rect">
            <a:avLst/>
          </a:prstGeom>
          <a:noFill/>
          <a:ln cap="flat" cmpd="sng" w="19050">
            <a:solidFill>
              <a:srgbClr val="2B2C30"/>
            </a:solidFill>
            <a:prstDash val="solid"/>
            <a:round/>
            <a:headEnd len="sm" w="sm" type="none"/>
            <a:tailEnd len="sm" w="sm" type="none"/>
          </a:ln>
        </p:spPr>
      </p:pic>
      <p:cxnSp>
        <p:nvCxnSpPr>
          <p:cNvPr id="144" name="Google Shape;144;p21"/>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nvSpPr>
        <p:spPr>
          <a:xfrm>
            <a:off x="5042050" y="997725"/>
            <a:ext cx="3913800" cy="22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2B2C30"/>
                </a:solidFill>
                <a:latin typeface="Public Sans"/>
                <a:ea typeface="Public Sans"/>
                <a:cs typeface="Public Sans"/>
                <a:sym typeface="Public Sans"/>
              </a:rPr>
              <a:t>Observations:</a:t>
            </a:r>
            <a:endParaRPr sz="1800">
              <a:solidFill>
                <a:srgbClr val="2B2C30"/>
              </a:solidFill>
              <a:latin typeface="Public Sans"/>
              <a:ea typeface="Public Sans"/>
              <a:cs typeface="Public Sans"/>
              <a:sym typeface="Public Sans"/>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Somewhat p</a:t>
            </a:r>
            <a:r>
              <a:rPr lang="en" sz="1800">
                <a:solidFill>
                  <a:srgbClr val="2B2C30"/>
                </a:solidFill>
                <a:latin typeface="Public Sans Thin"/>
                <a:ea typeface="Public Sans Thin"/>
                <a:cs typeface="Public Sans Thin"/>
                <a:sym typeface="Public Sans Thin"/>
              </a:rPr>
              <a:t>ositive linear relationship between percentile and EOC</a:t>
            </a:r>
            <a:endParaRPr sz="1800">
              <a:solidFill>
                <a:srgbClr val="2B2C30"/>
              </a:solidFill>
              <a:latin typeface="Public Sans Thin"/>
              <a:ea typeface="Public Sans Thin"/>
              <a:cs typeface="Public Sans Thin"/>
              <a:sym typeface="Public Sans Thin"/>
            </a:endParaRPr>
          </a:p>
          <a:p>
            <a:pPr indent="0" lvl="0" marL="457200" rtl="0" algn="l">
              <a:spcBef>
                <a:spcPts val="0"/>
              </a:spcBef>
              <a:spcAft>
                <a:spcPts val="0"/>
              </a:spcAft>
              <a:buNone/>
            </a:pPr>
            <a:r>
              <a:t/>
            </a:r>
            <a:endParaRPr sz="1700">
              <a:solidFill>
                <a:srgbClr val="2B2C30"/>
              </a:solidFill>
              <a:latin typeface="Public Sans Thin"/>
              <a:ea typeface="Public Sans Thin"/>
              <a:cs typeface="Public Sans Thin"/>
              <a:sym typeface="Public Sans Thin"/>
            </a:endParaRPr>
          </a:p>
          <a:p>
            <a:pPr indent="-342900" lvl="0" marL="457200" rtl="0" algn="l">
              <a:lnSpc>
                <a:spcPct val="100000"/>
              </a:lnSpc>
              <a:spcBef>
                <a:spcPts val="0"/>
              </a:spcBef>
              <a:spcAft>
                <a:spcPts val="0"/>
              </a:spcAft>
              <a:buClr>
                <a:srgbClr val="2B2C30"/>
              </a:buClr>
              <a:buSzPts val="1800"/>
              <a:buFont typeface="Public Sans Thin"/>
              <a:buChar char="-"/>
            </a:pPr>
            <a:r>
              <a:rPr lang="en" sz="1800">
                <a:solidFill>
                  <a:srgbClr val="2B2C30"/>
                </a:solidFill>
                <a:latin typeface="Public Sans Thin"/>
                <a:ea typeface="Public Sans Thin"/>
                <a:cs typeface="Public Sans Thin"/>
                <a:sym typeface="Public Sans Thin"/>
              </a:rPr>
              <a:t>Data is very scattered throughout the graph</a:t>
            </a:r>
            <a:endParaRPr sz="1800">
              <a:solidFill>
                <a:srgbClr val="2B2C30"/>
              </a:solidFill>
              <a:latin typeface="Public Sans Thin"/>
              <a:ea typeface="Public Sans Thin"/>
              <a:cs typeface="Public Sans Thin"/>
              <a:sym typeface="Public Sans Thin"/>
            </a:endParaRPr>
          </a:p>
        </p:txBody>
      </p:sp>
      <p:sp>
        <p:nvSpPr>
          <p:cNvPr id="150" name="Google Shape;150;p22"/>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2"/>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6: Short Text Questions</a:t>
            </a:r>
            <a:endParaRPr b="1">
              <a:solidFill>
                <a:srgbClr val="2B2C30"/>
              </a:solidFill>
              <a:latin typeface="Public Sans"/>
              <a:ea typeface="Public Sans"/>
              <a:cs typeface="Public Sans"/>
              <a:sym typeface="Public Sans"/>
            </a:endParaRPr>
          </a:p>
        </p:txBody>
      </p:sp>
      <p:cxnSp>
        <p:nvCxnSpPr>
          <p:cNvPr id="152" name="Google Shape;152;p22"/>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pic>
        <p:nvPicPr>
          <p:cNvPr id="153" name="Google Shape;153;p22"/>
          <p:cNvPicPr preferRelativeResize="0"/>
          <p:nvPr/>
        </p:nvPicPr>
        <p:blipFill>
          <a:blip r:embed="rId3">
            <a:alphaModFix/>
          </a:blip>
          <a:stretch>
            <a:fillRect/>
          </a:stretch>
        </p:blipFill>
        <p:spPr>
          <a:xfrm>
            <a:off x="149800" y="1167069"/>
            <a:ext cx="4714176" cy="3768000"/>
          </a:xfrm>
          <a:prstGeom prst="rect">
            <a:avLst/>
          </a:prstGeom>
          <a:noFill/>
          <a:ln cap="flat" cmpd="sng" w="19050">
            <a:solidFill>
              <a:srgbClr val="2B2C30"/>
            </a:solidFill>
            <a:prstDash val="solid"/>
            <a:round/>
            <a:headEnd len="sm" w="sm" type="none"/>
            <a:tailEnd len="sm" w="sm" type="none"/>
          </a:ln>
        </p:spPr>
      </p:pic>
      <p:pic>
        <p:nvPicPr>
          <p:cNvPr id="154" name="Google Shape;154;p22"/>
          <p:cNvPicPr preferRelativeResize="0"/>
          <p:nvPr/>
        </p:nvPicPr>
        <p:blipFill>
          <a:blip r:embed="rId4">
            <a:alphaModFix/>
          </a:blip>
          <a:stretch>
            <a:fillRect/>
          </a:stretch>
        </p:blipFill>
        <p:spPr>
          <a:xfrm>
            <a:off x="5042062" y="3524750"/>
            <a:ext cx="3987026" cy="1366626"/>
          </a:xfrm>
          <a:prstGeom prst="rect">
            <a:avLst/>
          </a:prstGeom>
          <a:noFill/>
          <a:ln cap="flat" cmpd="sng" w="19050">
            <a:solidFill>
              <a:srgbClr val="2B2C3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0" name="Google Shape;160;p23"/>
          <p:cNvPicPr preferRelativeResize="0"/>
          <p:nvPr/>
        </p:nvPicPr>
        <p:blipFill>
          <a:blip r:embed="rId3">
            <a:alphaModFix/>
          </a:blip>
          <a:stretch>
            <a:fillRect/>
          </a:stretch>
        </p:blipFill>
        <p:spPr>
          <a:xfrm>
            <a:off x="311700" y="753050"/>
            <a:ext cx="5289053" cy="4227500"/>
          </a:xfrm>
          <a:prstGeom prst="rect">
            <a:avLst/>
          </a:prstGeom>
          <a:noFill/>
          <a:ln cap="flat" cmpd="sng" w="19050">
            <a:solidFill>
              <a:srgbClr val="2B2C30"/>
            </a:solidFill>
            <a:prstDash val="solid"/>
            <a:round/>
            <a:headEnd len="sm" w="sm" type="none"/>
            <a:tailEnd len="sm" w="sm" type="none"/>
          </a:ln>
        </p:spPr>
      </p:pic>
      <p:sp>
        <p:nvSpPr>
          <p:cNvPr id="161" name="Google Shape;161;p23"/>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B2C30"/>
                </a:solidFill>
                <a:latin typeface="Public Sans"/>
                <a:ea typeface="Public Sans"/>
                <a:cs typeface="Public Sans"/>
                <a:sym typeface="Public Sans"/>
              </a:rPr>
              <a:t>Graph 7: Association Questions</a:t>
            </a:r>
            <a:endParaRPr b="1">
              <a:solidFill>
                <a:srgbClr val="2B2C30"/>
              </a:solidFill>
              <a:latin typeface="Public Sans"/>
              <a:ea typeface="Public Sans"/>
              <a:cs typeface="Public Sans"/>
              <a:sym typeface="Public Sans"/>
            </a:endParaRPr>
          </a:p>
        </p:txBody>
      </p:sp>
      <p:pic>
        <p:nvPicPr>
          <p:cNvPr id="162" name="Google Shape;162;p23"/>
          <p:cNvPicPr preferRelativeResize="0"/>
          <p:nvPr/>
        </p:nvPicPr>
        <p:blipFill rotWithShape="1">
          <a:blip r:embed="rId4">
            <a:alphaModFix/>
          </a:blip>
          <a:srcRect b="1596" l="0" r="1922" t="1625"/>
          <a:stretch/>
        </p:blipFill>
        <p:spPr>
          <a:xfrm>
            <a:off x="5772450" y="3202450"/>
            <a:ext cx="3253751" cy="1778100"/>
          </a:xfrm>
          <a:prstGeom prst="rect">
            <a:avLst/>
          </a:prstGeom>
          <a:noFill/>
          <a:ln cap="flat" cmpd="sng" w="19050">
            <a:solidFill>
              <a:schemeClr val="dk2"/>
            </a:solidFill>
            <a:prstDash val="solid"/>
            <a:round/>
            <a:headEnd len="sm" w="sm" type="none"/>
            <a:tailEnd len="sm" w="sm" type="none"/>
          </a:ln>
        </p:spPr>
      </p:pic>
      <p:sp>
        <p:nvSpPr>
          <p:cNvPr id="163" name="Google Shape;163;p23"/>
          <p:cNvSpPr txBox="1"/>
          <p:nvPr/>
        </p:nvSpPr>
        <p:spPr>
          <a:xfrm>
            <a:off x="5725475" y="648050"/>
            <a:ext cx="3347700" cy="177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rgbClr val="2B2C30"/>
                </a:solidFill>
                <a:latin typeface="Public Sans"/>
                <a:ea typeface="Public Sans"/>
                <a:cs typeface="Public Sans"/>
                <a:sym typeface="Public Sans"/>
              </a:rPr>
              <a:t>Observations:</a:t>
            </a:r>
            <a:endParaRPr sz="1700">
              <a:solidFill>
                <a:srgbClr val="2B2C30"/>
              </a:solidFill>
              <a:latin typeface="Public Sans"/>
              <a:ea typeface="Public Sans"/>
              <a:cs typeface="Public Sans"/>
              <a:sym typeface="Public Sans"/>
            </a:endParaRPr>
          </a:p>
          <a:p>
            <a:pPr indent="-336550" lvl="0" marL="457200" rtl="0" algn="l">
              <a:lnSpc>
                <a:spcPct val="100000"/>
              </a:lnSpc>
              <a:spcBef>
                <a:spcPts val="0"/>
              </a:spcBef>
              <a:spcAft>
                <a:spcPts val="0"/>
              </a:spcAft>
              <a:buClr>
                <a:srgbClr val="2B2C30"/>
              </a:buClr>
              <a:buSzPts val="1700"/>
              <a:buFont typeface="Public Sans Thin"/>
              <a:buChar char="-"/>
            </a:pPr>
            <a:r>
              <a:rPr lang="en" sz="1700">
                <a:solidFill>
                  <a:srgbClr val="2B2C30"/>
                </a:solidFill>
                <a:latin typeface="Public Sans Thin"/>
                <a:ea typeface="Public Sans Thin"/>
                <a:cs typeface="Public Sans Thin"/>
                <a:sym typeface="Public Sans Thin"/>
              </a:rPr>
              <a:t>Students EOC increases as  rank percentile increases </a:t>
            </a:r>
            <a:endParaRPr sz="1700">
              <a:solidFill>
                <a:srgbClr val="2B2C30"/>
              </a:solidFill>
              <a:latin typeface="Public Sans Thin"/>
              <a:ea typeface="Public Sans Thin"/>
              <a:cs typeface="Public Sans Thin"/>
              <a:sym typeface="Public Sans Thin"/>
            </a:endParaRPr>
          </a:p>
          <a:p>
            <a:pPr indent="0" lvl="0" marL="457200" rtl="0" algn="l">
              <a:lnSpc>
                <a:spcPct val="100000"/>
              </a:lnSpc>
              <a:spcBef>
                <a:spcPts val="0"/>
              </a:spcBef>
              <a:spcAft>
                <a:spcPts val="0"/>
              </a:spcAft>
              <a:buNone/>
            </a:pPr>
            <a:r>
              <a:t/>
            </a:r>
            <a:endParaRPr sz="1700">
              <a:solidFill>
                <a:srgbClr val="2B2C30"/>
              </a:solidFill>
              <a:latin typeface="Public Sans Thin"/>
              <a:ea typeface="Public Sans Thin"/>
              <a:cs typeface="Public Sans Thin"/>
              <a:sym typeface="Public Sans Thin"/>
            </a:endParaRPr>
          </a:p>
          <a:p>
            <a:pPr indent="-336550" lvl="0" marL="457200" rtl="0" algn="l">
              <a:lnSpc>
                <a:spcPct val="100000"/>
              </a:lnSpc>
              <a:spcBef>
                <a:spcPts val="0"/>
              </a:spcBef>
              <a:spcAft>
                <a:spcPts val="0"/>
              </a:spcAft>
              <a:buClr>
                <a:srgbClr val="2B2C30"/>
              </a:buClr>
              <a:buSzPts val="1700"/>
              <a:buFont typeface="Public Sans Thin"/>
              <a:buChar char="-"/>
            </a:pPr>
            <a:r>
              <a:rPr lang="en" sz="1700">
                <a:solidFill>
                  <a:srgbClr val="2B2C30"/>
                </a:solidFill>
                <a:latin typeface="Public Sans Thin"/>
                <a:ea typeface="Public Sans Thin"/>
                <a:cs typeface="Public Sans Thin"/>
                <a:sym typeface="Public Sans Thin"/>
              </a:rPr>
              <a:t>Higher rank percentile shows increased ability to answer association questions</a:t>
            </a:r>
            <a:endParaRPr sz="1700">
              <a:solidFill>
                <a:srgbClr val="2B2C30"/>
              </a:solidFill>
              <a:latin typeface="Public Sans Thin"/>
              <a:ea typeface="Public Sans Thin"/>
              <a:cs typeface="Public Sans Thin"/>
              <a:sym typeface="Public Sans Thin"/>
            </a:endParaRPr>
          </a:p>
        </p:txBody>
      </p:sp>
      <p:cxnSp>
        <p:nvCxnSpPr>
          <p:cNvPr id="164" name="Google Shape;164;p23"/>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p:nvPr/>
        </p:nvSpPr>
        <p:spPr>
          <a:xfrm>
            <a:off x="-960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4"/>
          <p:cNvSpPr txBox="1"/>
          <p:nvPr>
            <p:ph idx="1" type="subTitle"/>
          </p:nvPr>
        </p:nvSpPr>
        <p:spPr>
          <a:xfrm>
            <a:off x="309300" y="675388"/>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Public Sans Thin"/>
                <a:ea typeface="Public Sans Thin"/>
                <a:cs typeface="Public Sans Thin"/>
                <a:sym typeface="Public Sans Thin"/>
              </a:rPr>
              <a:t>We compared the proportion of questions present within a chapter to the user </a:t>
            </a:r>
            <a:r>
              <a:rPr lang="en" sz="2000">
                <a:latin typeface="Public Sans Thin"/>
                <a:ea typeface="Public Sans Thin"/>
                <a:cs typeface="Public Sans Thin"/>
                <a:sym typeface="Public Sans Thin"/>
              </a:rPr>
              <a:t>response</a:t>
            </a:r>
            <a:r>
              <a:rPr lang="en" sz="2000">
                <a:latin typeface="Public Sans Thin"/>
                <a:ea typeface="Public Sans Thin"/>
                <a:cs typeface="Public Sans Thin"/>
                <a:sym typeface="Public Sans Thin"/>
              </a:rPr>
              <a:t> in the pulse check:</a:t>
            </a:r>
            <a:endParaRPr sz="2000">
              <a:latin typeface="Public Sans Thin"/>
              <a:ea typeface="Public Sans Thin"/>
              <a:cs typeface="Public Sans Thin"/>
              <a:sym typeface="Public Sans Thin"/>
            </a:endParaRPr>
          </a:p>
        </p:txBody>
      </p:sp>
      <p:pic>
        <p:nvPicPr>
          <p:cNvPr id="171" name="Google Shape;171;p24"/>
          <p:cNvPicPr preferRelativeResize="0"/>
          <p:nvPr/>
        </p:nvPicPr>
        <p:blipFill rotWithShape="1">
          <a:blip r:embed="rId3">
            <a:alphaModFix/>
          </a:blip>
          <a:srcRect b="58213" l="0" r="0" t="0"/>
          <a:stretch/>
        </p:blipFill>
        <p:spPr>
          <a:xfrm>
            <a:off x="361050" y="1978287"/>
            <a:ext cx="3823100" cy="1097950"/>
          </a:xfrm>
          <a:prstGeom prst="rect">
            <a:avLst/>
          </a:prstGeom>
          <a:noFill/>
          <a:ln>
            <a:noFill/>
          </a:ln>
        </p:spPr>
      </p:pic>
      <p:sp>
        <p:nvSpPr>
          <p:cNvPr id="172" name="Google Shape;172;p24"/>
          <p:cNvSpPr txBox="1"/>
          <p:nvPr/>
        </p:nvSpPr>
        <p:spPr>
          <a:xfrm>
            <a:off x="311700" y="1523425"/>
            <a:ext cx="41520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ublic Sans Thin"/>
                <a:ea typeface="Public Sans Thin"/>
                <a:cs typeface="Public Sans Thin"/>
                <a:sym typeface="Public Sans Thin"/>
              </a:rPr>
              <a:t>Correlation to </a:t>
            </a:r>
            <a:r>
              <a:rPr lang="en" sz="1800">
                <a:solidFill>
                  <a:schemeClr val="dk2"/>
                </a:solidFill>
                <a:latin typeface="Public Sans Thin"/>
                <a:ea typeface="Public Sans Thin"/>
                <a:cs typeface="Public Sans Thin"/>
                <a:sym typeface="Public Sans Thin"/>
              </a:rPr>
              <a:t>Engagement</a:t>
            </a:r>
            <a:r>
              <a:rPr lang="en" sz="1800">
                <a:solidFill>
                  <a:schemeClr val="dk2"/>
                </a:solidFill>
                <a:latin typeface="Public Sans Thin"/>
                <a:ea typeface="Public Sans Thin"/>
                <a:cs typeface="Public Sans Thin"/>
                <a:sym typeface="Public Sans Thin"/>
              </a:rPr>
              <a:t>/Idle ratio</a:t>
            </a:r>
            <a:endParaRPr sz="1800">
              <a:solidFill>
                <a:schemeClr val="dk2"/>
              </a:solidFill>
              <a:latin typeface="Public Sans Thin"/>
              <a:ea typeface="Public Sans Thin"/>
              <a:cs typeface="Public Sans Thin"/>
              <a:sym typeface="Public Sans Thin"/>
            </a:endParaRPr>
          </a:p>
        </p:txBody>
      </p:sp>
      <p:pic>
        <p:nvPicPr>
          <p:cNvPr id="173" name="Google Shape;173;p24"/>
          <p:cNvPicPr preferRelativeResize="0"/>
          <p:nvPr/>
        </p:nvPicPr>
        <p:blipFill rotWithShape="1">
          <a:blip r:embed="rId4">
            <a:alphaModFix/>
          </a:blip>
          <a:srcRect b="0" l="0" r="0" t="0"/>
          <a:stretch/>
        </p:blipFill>
        <p:spPr>
          <a:xfrm>
            <a:off x="4515600" y="1978275"/>
            <a:ext cx="3978449" cy="1356125"/>
          </a:xfrm>
          <a:prstGeom prst="rect">
            <a:avLst/>
          </a:prstGeom>
          <a:noFill/>
          <a:ln>
            <a:noFill/>
          </a:ln>
        </p:spPr>
      </p:pic>
      <p:sp>
        <p:nvSpPr>
          <p:cNvPr id="174" name="Google Shape;174;p24"/>
          <p:cNvSpPr txBox="1"/>
          <p:nvPr>
            <p:ph idx="4294967295" type="title"/>
          </p:nvPr>
        </p:nvSpPr>
        <p:spPr>
          <a:xfrm>
            <a:off x="89325" y="47275"/>
            <a:ext cx="905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420">
                <a:solidFill>
                  <a:srgbClr val="2B2C30"/>
                </a:solidFill>
                <a:latin typeface="Public Sans"/>
                <a:ea typeface="Public Sans"/>
                <a:cs typeface="Public Sans"/>
                <a:sym typeface="Public Sans"/>
              </a:rPr>
              <a:t>Correlations Between Question Type and User Satisfaction</a:t>
            </a:r>
            <a:endParaRPr b="1" sz="2420">
              <a:solidFill>
                <a:srgbClr val="2B2C30"/>
              </a:solidFill>
              <a:latin typeface="Public Sans"/>
              <a:ea typeface="Public Sans"/>
              <a:cs typeface="Public Sans"/>
              <a:sym typeface="Public Sans"/>
            </a:endParaRPr>
          </a:p>
        </p:txBody>
      </p:sp>
      <p:cxnSp>
        <p:nvCxnSpPr>
          <p:cNvPr id="175" name="Google Shape;175;p24"/>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
        <p:nvSpPr>
          <p:cNvPr id="176" name="Google Shape;176;p24"/>
          <p:cNvSpPr txBox="1"/>
          <p:nvPr/>
        </p:nvSpPr>
        <p:spPr>
          <a:xfrm>
            <a:off x="4428825" y="1523425"/>
            <a:ext cx="41520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ublic Sans Thin"/>
                <a:ea typeface="Public Sans Thin"/>
                <a:cs typeface="Public Sans Thin"/>
                <a:sym typeface="Public Sans Thin"/>
              </a:rPr>
              <a:t>Values to question </a:t>
            </a:r>
            <a:r>
              <a:rPr lang="en" sz="1800">
                <a:solidFill>
                  <a:schemeClr val="dk2"/>
                </a:solidFill>
                <a:latin typeface="Public Sans Thin"/>
                <a:ea typeface="Public Sans Thin"/>
                <a:cs typeface="Public Sans Thin"/>
                <a:sym typeface="Public Sans Thin"/>
              </a:rPr>
              <a:t>type</a:t>
            </a:r>
            <a:endParaRPr sz="1800">
              <a:solidFill>
                <a:schemeClr val="dk2"/>
              </a:solidFill>
              <a:latin typeface="Public Sans Thin"/>
              <a:ea typeface="Public Sans Thin"/>
              <a:cs typeface="Public Sans Thin"/>
              <a:sym typeface="Public Sans Thin"/>
            </a:endParaRPr>
          </a:p>
        </p:txBody>
      </p:sp>
      <p:pic>
        <p:nvPicPr>
          <p:cNvPr id="177" name="Google Shape;177;p24"/>
          <p:cNvPicPr preferRelativeResize="0"/>
          <p:nvPr/>
        </p:nvPicPr>
        <p:blipFill rotWithShape="1">
          <a:blip r:embed="rId3">
            <a:alphaModFix/>
          </a:blip>
          <a:srcRect b="0" l="0" r="0" t="40680"/>
          <a:stretch/>
        </p:blipFill>
        <p:spPr>
          <a:xfrm>
            <a:off x="361050" y="3030413"/>
            <a:ext cx="3823100" cy="1558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5"/>
          <p:cNvSpPr txBox="1"/>
          <p:nvPr>
            <p:ph idx="1" type="body"/>
          </p:nvPr>
        </p:nvSpPr>
        <p:spPr>
          <a:xfrm>
            <a:off x="309300" y="724225"/>
            <a:ext cx="8520600" cy="1361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2B2C30"/>
              </a:buClr>
              <a:buSzPts val="1800"/>
              <a:buFont typeface="Public Sans Thin"/>
              <a:buChar char="-"/>
            </a:pPr>
            <a:r>
              <a:rPr lang="en">
                <a:solidFill>
                  <a:srgbClr val="2B2C30"/>
                </a:solidFill>
                <a:latin typeface="Public Sans Thin"/>
                <a:ea typeface="Public Sans Thin"/>
                <a:cs typeface="Public Sans Thin"/>
                <a:sym typeface="Public Sans Thin"/>
              </a:rPr>
              <a:t>Students likely </a:t>
            </a:r>
            <a:r>
              <a:rPr lang="en">
                <a:solidFill>
                  <a:srgbClr val="2B2C30"/>
                </a:solidFill>
                <a:latin typeface="Public Sans Thin"/>
                <a:ea typeface="Public Sans Thin"/>
                <a:cs typeface="Public Sans Thin"/>
                <a:sym typeface="Public Sans Thin"/>
              </a:rPr>
              <a:t>perceive</a:t>
            </a:r>
            <a:r>
              <a:rPr lang="en">
                <a:solidFill>
                  <a:srgbClr val="2B2C30"/>
                </a:solidFill>
                <a:latin typeface="Public Sans Thin"/>
                <a:ea typeface="Public Sans Thin"/>
                <a:cs typeface="Public Sans Thin"/>
                <a:sym typeface="Public Sans Thin"/>
              </a:rPr>
              <a:t> the </a:t>
            </a:r>
            <a:r>
              <a:rPr lang="en">
                <a:solidFill>
                  <a:srgbClr val="2B2C30"/>
                </a:solidFill>
                <a:latin typeface="Public Sans Thin"/>
                <a:ea typeface="Public Sans Thin"/>
                <a:cs typeface="Public Sans Thin"/>
                <a:sym typeface="Public Sans Thin"/>
              </a:rPr>
              <a:t>Association</a:t>
            </a:r>
            <a:r>
              <a:rPr lang="en">
                <a:solidFill>
                  <a:srgbClr val="2B2C30"/>
                </a:solidFill>
                <a:latin typeface="Public Sans Thin"/>
                <a:ea typeface="Public Sans Thin"/>
                <a:cs typeface="Public Sans Thin"/>
                <a:sym typeface="Public Sans Thin"/>
              </a:rPr>
              <a:t> questions as </a:t>
            </a:r>
            <a:r>
              <a:rPr lang="en">
                <a:solidFill>
                  <a:srgbClr val="2B2C30"/>
                </a:solidFill>
                <a:latin typeface="Public Sans Thin"/>
                <a:ea typeface="Public Sans Thin"/>
                <a:cs typeface="Public Sans Thin"/>
                <a:sym typeface="Public Sans Thin"/>
              </a:rPr>
              <a:t>time intensive, unengaging, and with little value.</a:t>
            </a:r>
            <a:endParaRPr>
              <a:solidFill>
                <a:srgbClr val="2B2C30"/>
              </a:solidFill>
              <a:latin typeface="Public Sans Thin"/>
              <a:ea typeface="Public Sans Thin"/>
              <a:cs typeface="Public Sans Thin"/>
              <a:sym typeface="Public Sans Thin"/>
            </a:endParaRPr>
          </a:p>
          <a:p>
            <a:pPr indent="-342900" lvl="0" marL="457200" rtl="0" algn="l">
              <a:spcBef>
                <a:spcPts val="0"/>
              </a:spcBef>
              <a:spcAft>
                <a:spcPts val="0"/>
              </a:spcAft>
              <a:buClr>
                <a:srgbClr val="2B2C30"/>
              </a:buClr>
              <a:buSzPts val="1800"/>
              <a:buFont typeface="Public Sans Thin"/>
              <a:buChar char="-"/>
            </a:pPr>
            <a:r>
              <a:rPr lang="en">
                <a:solidFill>
                  <a:srgbClr val="2B2C30"/>
                </a:solidFill>
                <a:latin typeface="Public Sans Thin"/>
                <a:ea typeface="Public Sans Thin"/>
                <a:cs typeface="Public Sans Thin"/>
                <a:sym typeface="Public Sans Thin"/>
              </a:rPr>
              <a:t>Ability to answer association questions is a strong indicator of a student’s knowledge</a:t>
            </a:r>
            <a:endParaRPr>
              <a:solidFill>
                <a:srgbClr val="2B2C30"/>
              </a:solidFill>
              <a:latin typeface="Public Sans Thin"/>
              <a:ea typeface="Public Sans Thin"/>
              <a:cs typeface="Public Sans Thin"/>
              <a:sym typeface="Public Sans Thin"/>
            </a:endParaRPr>
          </a:p>
        </p:txBody>
      </p:sp>
      <p:pic>
        <p:nvPicPr>
          <p:cNvPr id="184" name="Google Shape;184;p25"/>
          <p:cNvPicPr preferRelativeResize="0"/>
          <p:nvPr/>
        </p:nvPicPr>
        <p:blipFill rotWithShape="1">
          <a:blip r:embed="rId3">
            <a:alphaModFix/>
          </a:blip>
          <a:srcRect b="0" l="0" r="0" t="0"/>
          <a:stretch/>
        </p:blipFill>
        <p:spPr>
          <a:xfrm>
            <a:off x="1063363" y="2683775"/>
            <a:ext cx="2747787" cy="2136149"/>
          </a:xfrm>
          <a:prstGeom prst="rect">
            <a:avLst/>
          </a:prstGeom>
          <a:noFill/>
          <a:ln cap="flat" cmpd="sng" w="19050">
            <a:solidFill>
              <a:schemeClr val="dk2"/>
            </a:solidFill>
            <a:prstDash val="solid"/>
            <a:round/>
            <a:headEnd len="sm" w="sm" type="none"/>
            <a:tailEnd len="sm" w="sm" type="none"/>
          </a:ln>
        </p:spPr>
      </p:pic>
      <p:pic>
        <p:nvPicPr>
          <p:cNvPr id="185" name="Google Shape;185;p25"/>
          <p:cNvPicPr preferRelativeResize="0"/>
          <p:nvPr/>
        </p:nvPicPr>
        <p:blipFill rotWithShape="1">
          <a:blip r:embed="rId4">
            <a:alphaModFix/>
          </a:blip>
          <a:srcRect b="42326" l="0" r="0" t="47460"/>
          <a:stretch/>
        </p:blipFill>
        <p:spPr>
          <a:xfrm>
            <a:off x="448025" y="2281425"/>
            <a:ext cx="3978449" cy="138500"/>
          </a:xfrm>
          <a:prstGeom prst="rect">
            <a:avLst/>
          </a:prstGeom>
          <a:noFill/>
          <a:ln>
            <a:noFill/>
          </a:ln>
        </p:spPr>
      </p:pic>
      <p:pic>
        <p:nvPicPr>
          <p:cNvPr id="186" name="Google Shape;186;p25"/>
          <p:cNvPicPr preferRelativeResize="0"/>
          <p:nvPr/>
        </p:nvPicPr>
        <p:blipFill rotWithShape="1">
          <a:blip r:embed="rId4">
            <a:alphaModFix/>
          </a:blip>
          <a:srcRect b="85561" l="0" r="0" t="0"/>
          <a:stretch/>
        </p:blipFill>
        <p:spPr>
          <a:xfrm>
            <a:off x="448025" y="2085625"/>
            <a:ext cx="3978449" cy="195800"/>
          </a:xfrm>
          <a:prstGeom prst="rect">
            <a:avLst/>
          </a:prstGeom>
          <a:noFill/>
          <a:ln>
            <a:noFill/>
          </a:ln>
        </p:spPr>
      </p:pic>
      <p:pic>
        <p:nvPicPr>
          <p:cNvPr id="187" name="Google Shape;187;p25"/>
          <p:cNvPicPr preferRelativeResize="0"/>
          <p:nvPr/>
        </p:nvPicPr>
        <p:blipFill>
          <a:blip r:embed="rId5">
            <a:alphaModFix/>
          </a:blip>
          <a:stretch>
            <a:fillRect/>
          </a:stretch>
        </p:blipFill>
        <p:spPr>
          <a:xfrm>
            <a:off x="5225925" y="2085625"/>
            <a:ext cx="3442500" cy="2676199"/>
          </a:xfrm>
          <a:prstGeom prst="rect">
            <a:avLst/>
          </a:prstGeom>
          <a:noFill/>
          <a:ln cap="flat" cmpd="sng" w="19050">
            <a:solidFill>
              <a:schemeClr val="dk2"/>
            </a:solidFill>
            <a:prstDash val="solid"/>
            <a:round/>
            <a:headEnd len="sm" w="sm" type="none"/>
            <a:tailEnd len="sm" w="sm" type="none"/>
          </a:ln>
        </p:spPr>
      </p:pic>
      <p:sp>
        <p:nvSpPr>
          <p:cNvPr id="188" name="Google Shape;188;p25"/>
          <p:cNvSpPr txBox="1"/>
          <p:nvPr>
            <p:ph type="title"/>
          </p:nvPr>
        </p:nvSpPr>
        <p:spPr>
          <a:xfrm>
            <a:off x="89325" y="47275"/>
            <a:ext cx="905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420">
                <a:solidFill>
                  <a:srgbClr val="2B2C30"/>
                </a:solidFill>
                <a:latin typeface="Public Sans"/>
                <a:ea typeface="Public Sans"/>
                <a:cs typeface="Public Sans"/>
                <a:sym typeface="Public Sans"/>
              </a:rPr>
              <a:t>Association Questions</a:t>
            </a:r>
            <a:endParaRPr b="1" sz="2420">
              <a:solidFill>
                <a:srgbClr val="2B2C30"/>
              </a:solidFill>
              <a:latin typeface="Public Sans"/>
              <a:ea typeface="Public Sans"/>
              <a:cs typeface="Public Sans"/>
              <a:sym typeface="Public Sans"/>
            </a:endParaRPr>
          </a:p>
        </p:txBody>
      </p:sp>
      <p:cxnSp>
        <p:nvCxnSpPr>
          <p:cNvPr id="189" name="Google Shape;189;p25"/>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2B2C30"/>
              </a:buClr>
              <a:buSzPts val="1800"/>
              <a:buFont typeface="Public Sans Thin"/>
              <a:buChar char="-"/>
            </a:pPr>
            <a:r>
              <a:rPr lang="en">
                <a:solidFill>
                  <a:srgbClr val="2B2C30"/>
                </a:solidFill>
                <a:latin typeface="Public Sans Thin"/>
                <a:ea typeface="Public Sans Thin"/>
                <a:cs typeface="Public Sans Thin"/>
                <a:sym typeface="Public Sans Thin"/>
              </a:rPr>
              <a:t>Use to </a:t>
            </a:r>
            <a:r>
              <a:rPr lang="en">
                <a:solidFill>
                  <a:srgbClr val="2B2C30"/>
                </a:solidFill>
                <a:latin typeface="Public Sans Thin"/>
                <a:ea typeface="Public Sans Thin"/>
                <a:cs typeface="Public Sans Thin"/>
                <a:sym typeface="Public Sans Thin"/>
              </a:rPr>
              <a:t>evaluate</a:t>
            </a:r>
            <a:r>
              <a:rPr lang="en">
                <a:solidFill>
                  <a:srgbClr val="2B2C30"/>
                </a:solidFill>
                <a:latin typeface="Public Sans Thin"/>
                <a:ea typeface="Public Sans Thin"/>
                <a:cs typeface="Public Sans Thin"/>
                <a:sym typeface="Public Sans Thin"/>
              </a:rPr>
              <a:t> a user’s capacity</a:t>
            </a:r>
            <a:endParaRPr>
              <a:solidFill>
                <a:srgbClr val="2B2C30"/>
              </a:solidFill>
              <a:latin typeface="Public Sans Thin"/>
              <a:ea typeface="Public Sans Thin"/>
              <a:cs typeface="Public Sans Thin"/>
              <a:sym typeface="Public Sans Thin"/>
            </a:endParaRPr>
          </a:p>
          <a:p>
            <a:pPr indent="-342900" lvl="0" marL="457200" rtl="0" algn="l">
              <a:spcBef>
                <a:spcPts val="0"/>
              </a:spcBef>
              <a:spcAft>
                <a:spcPts val="0"/>
              </a:spcAft>
              <a:buClr>
                <a:srgbClr val="2B2C30"/>
              </a:buClr>
              <a:buSzPts val="1800"/>
              <a:buFont typeface="Public Sans Thin"/>
              <a:buChar char="-"/>
            </a:pPr>
            <a:r>
              <a:rPr lang="en">
                <a:solidFill>
                  <a:srgbClr val="2B2C30"/>
                </a:solidFill>
                <a:latin typeface="Public Sans Thin"/>
                <a:ea typeface="Public Sans Thin"/>
                <a:cs typeface="Public Sans Thin"/>
                <a:sym typeface="Public Sans Thin"/>
              </a:rPr>
              <a:t>Reduce </a:t>
            </a:r>
            <a:r>
              <a:rPr lang="en">
                <a:solidFill>
                  <a:srgbClr val="2B2C30"/>
                </a:solidFill>
                <a:latin typeface="Public Sans Thin"/>
                <a:ea typeface="Public Sans Thin"/>
                <a:cs typeface="Public Sans Thin"/>
                <a:sym typeface="Public Sans Thin"/>
              </a:rPr>
              <a:t>quantity</a:t>
            </a:r>
            <a:r>
              <a:rPr lang="en">
                <a:solidFill>
                  <a:srgbClr val="2B2C30"/>
                </a:solidFill>
                <a:latin typeface="Public Sans Thin"/>
                <a:ea typeface="Public Sans Thin"/>
                <a:cs typeface="Public Sans Thin"/>
                <a:sym typeface="Public Sans Thin"/>
              </a:rPr>
              <a:t> in </a:t>
            </a:r>
            <a:r>
              <a:rPr lang="en">
                <a:solidFill>
                  <a:srgbClr val="2B2C30"/>
                </a:solidFill>
                <a:latin typeface="Public Sans Thin"/>
                <a:ea typeface="Public Sans Thin"/>
                <a:cs typeface="Public Sans Thin"/>
                <a:sym typeface="Public Sans Thin"/>
              </a:rPr>
              <a:t>practice</a:t>
            </a:r>
            <a:r>
              <a:rPr lang="en">
                <a:solidFill>
                  <a:srgbClr val="2B2C30"/>
                </a:solidFill>
                <a:latin typeface="Public Sans Thin"/>
                <a:ea typeface="Public Sans Thin"/>
                <a:cs typeface="Public Sans Thin"/>
                <a:sym typeface="Public Sans Thin"/>
              </a:rPr>
              <a:t> and homework</a:t>
            </a:r>
            <a:endParaRPr>
              <a:solidFill>
                <a:srgbClr val="2B2C30"/>
              </a:solidFill>
              <a:latin typeface="Public Sans Thin"/>
              <a:ea typeface="Public Sans Thin"/>
              <a:cs typeface="Public Sans Thin"/>
              <a:sym typeface="Public Sans Thin"/>
            </a:endParaRPr>
          </a:p>
        </p:txBody>
      </p:sp>
      <p:pic>
        <p:nvPicPr>
          <p:cNvPr id="196" name="Google Shape;196;p26"/>
          <p:cNvPicPr preferRelativeResize="0"/>
          <p:nvPr/>
        </p:nvPicPr>
        <p:blipFill>
          <a:blip r:embed="rId3">
            <a:alphaModFix/>
          </a:blip>
          <a:stretch>
            <a:fillRect/>
          </a:stretch>
        </p:blipFill>
        <p:spPr>
          <a:xfrm>
            <a:off x="311699" y="2330650"/>
            <a:ext cx="3976248" cy="2652127"/>
          </a:xfrm>
          <a:prstGeom prst="rect">
            <a:avLst/>
          </a:prstGeom>
          <a:noFill/>
          <a:ln cap="flat" cmpd="sng" w="19050">
            <a:solidFill>
              <a:schemeClr val="dk1"/>
            </a:solidFill>
            <a:prstDash val="solid"/>
            <a:round/>
            <a:headEnd len="sm" w="sm" type="none"/>
            <a:tailEnd len="sm" w="sm" type="none"/>
          </a:ln>
        </p:spPr>
      </p:pic>
      <p:pic>
        <p:nvPicPr>
          <p:cNvPr id="197" name="Google Shape;197;p26"/>
          <p:cNvPicPr preferRelativeResize="0"/>
          <p:nvPr/>
        </p:nvPicPr>
        <p:blipFill>
          <a:blip r:embed="rId4">
            <a:alphaModFix/>
          </a:blip>
          <a:stretch>
            <a:fillRect/>
          </a:stretch>
        </p:blipFill>
        <p:spPr>
          <a:xfrm>
            <a:off x="4880174" y="2499038"/>
            <a:ext cx="3848626" cy="2315350"/>
          </a:xfrm>
          <a:prstGeom prst="rect">
            <a:avLst/>
          </a:prstGeom>
          <a:noFill/>
          <a:ln cap="flat" cmpd="sng" w="19050">
            <a:solidFill>
              <a:schemeClr val="dk1"/>
            </a:solidFill>
            <a:prstDash val="solid"/>
            <a:round/>
            <a:headEnd len="sm" w="sm" type="none"/>
            <a:tailEnd len="sm" w="sm" type="none"/>
          </a:ln>
        </p:spPr>
      </p:pic>
      <p:sp>
        <p:nvSpPr>
          <p:cNvPr id="198" name="Google Shape;198;p26"/>
          <p:cNvSpPr txBox="1"/>
          <p:nvPr>
            <p:ph type="title"/>
          </p:nvPr>
        </p:nvSpPr>
        <p:spPr>
          <a:xfrm>
            <a:off x="89325" y="47275"/>
            <a:ext cx="905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420">
                <a:solidFill>
                  <a:srgbClr val="2B2C30"/>
                </a:solidFill>
                <a:latin typeface="Public Sans"/>
                <a:ea typeface="Public Sans"/>
                <a:cs typeface="Public Sans"/>
                <a:sym typeface="Public Sans"/>
              </a:rPr>
              <a:t>Solution to Association Questions</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SzPts val="1100"/>
              <a:buNone/>
            </a:pPr>
            <a:r>
              <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SzPts val="1100"/>
              <a:buNone/>
            </a:pPr>
            <a:r>
              <a:t/>
            </a:r>
            <a:endParaRPr b="1" sz="2420">
              <a:solidFill>
                <a:srgbClr val="2B2C30"/>
              </a:solidFill>
              <a:latin typeface="Public Sans"/>
              <a:ea typeface="Public Sans"/>
              <a:cs typeface="Public Sans"/>
              <a:sym typeface="Public Sans"/>
            </a:endParaRPr>
          </a:p>
        </p:txBody>
      </p:sp>
      <p:cxnSp>
        <p:nvCxnSpPr>
          <p:cNvPr id="199" name="Google Shape;199;p26"/>
          <p:cNvCxnSpPr/>
          <p:nvPr/>
        </p:nvCxnSpPr>
        <p:spPr>
          <a:xfrm>
            <a:off x="-9600" y="526150"/>
            <a:ext cx="9158400" cy="15600"/>
          </a:xfrm>
          <a:prstGeom prst="straightConnector1">
            <a:avLst/>
          </a:prstGeom>
          <a:noFill/>
          <a:ln cap="flat" cmpd="sng" w="28575">
            <a:solidFill>
              <a:srgbClr val="2B2C3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p:nvPr/>
        </p:nvSpPr>
        <p:spPr>
          <a:xfrm>
            <a:off x="5883950" y="0"/>
            <a:ext cx="3260100" cy="5100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5" name="Google Shape;205;p27"/>
          <p:cNvCxnSpPr/>
          <p:nvPr/>
        </p:nvCxnSpPr>
        <p:spPr>
          <a:xfrm>
            <a:off x="-9600" y="526150"/>
            <a:ext cx="8532600" cy="12600"/>
          </a:xfrm>
          <a:prstGeom prst="straightConnector1">
            <a:avLst/>
          </a:prstGeom>
          <a:noFill/>
          <a:ln cap="flat" cmpd="sng" w="28575">
            <a:solidFill>
              <a:srgbClr val="2B2C30"/>
            </a:solidFill>
            <a:prstDash val="solid"/>
            <a:round/>
            <a:headEnd len="med" w="med" type="none"/>
            <a:tailEnd len="med" w="med" type="none"/>
          </a:ln>
        </p:spPr>
      </p:cxnSp>
      <p:sp>
        <p:nvSpPr>
          <p:cNvPr id="206" name="Google Shape;206;p27"/>
          <p:cNvSpPr/>
          <p:nvPr/>
        </p:nvSpPr>
        <p:spPr>
          <a:xfrm>
            <a:off x="0" y="4672200"/>
            <a:ext cx="9158400" cy="471300"/>
          </a:xfrm>
          <a:prstGeom prst="rec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7"/>
          <p:cNvSpPr txBox="1"/>
          <p:nvPr>
            <p:ph idx="1" type="body"/>
          </p:nvPr>
        </p:nvSpPr>
        <p:spPr>
          <a:xfrm>
            <a:off x="233050" y="698625"/>
            <a:ext cx="5353800" cy="1863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2B2C30"/>
              </a:buClr>
              <a:buSzPts val="2000"/>
              <a:buFont typeface="Public Sans Thin"/>
              <a:buChar char="-"/>
            </a:pPr>
            <a:r>
              <a:rPr lang="en" sz="2000">
                <a:solidFill>
                  <a:srgbClr val="2B2C30"/>
                </a:solidFill>
                <a:latin typeface="Public Sans Thin"/>
                <a:ea typeface="Public Sans Thin"/>
                <a:cs typeface="Public Sans Thin"/>
                <a:sym typeface="Public Sans Thin"/>
              </a:rPr>
              <a:t>Weaker students answer a fewer number of these questions</a:t>
            </a:r>
            <a:endParaRPr sz="2000">
              <a:solidFill>
                <a:srgbClr val="2B2C30"/>
              </a:solidFill>
              <a:latin typeface="Public Sans Thin"/>
              <a:ea typeface="Public Sans Thin"/>
              <a:cs typeface="Public Sans Thin"/>
              <a:sym typeface="Public Sans Thin"/>
            </a:endParaRPr>
          </a:p>
          <a:p>
            <a:pPr indent="-355600" lvl="0" marL="457200" rtl="0" algn="l">
              <a:spcBef>
                <a:spcPts val="0"/>
              </a:spcBef>
              <a:spcAft>
                <a:spcPts val="0"/>
              </a:spcAft>
              <a:buClr>
                <a:srgbClr val="2B2C30"/>
              </a:buClr>
              <a:buSzPts val="2000"/>
              <a:buFont typeface="Public Sans Thin"/>
              <a:buChar char="-"/>
            </a:pPr>
            <a:r>
              <a:rPr b="1" lang="en" sz="2000">
                <a:solidFill>
                  <a:srgbClr val="2B2C30"/>
                </a:solidFill>
                <a:latin typeface="Public Sans"/>
                <a:ea typeface="Public Sans"/>
                <a:cs typeface="Public Sans"/>
                <a:sym typeface="Public Sans"/>
              </a:rPr>
              <a:t>Solution:</a:t>
            </a:r>
            <a:r>
              <a:rPr lang="en" sz="2000">
                <a:solidFill>
                  <a:srgbClr val="2B2C30"/>
                </a:solidFill>
                <a:latin typeface="Public Sans Thin"/>
                <a:ea typeface="Public Sans Thin"/>
                <a:cs typeface="Public Sans Thin"/>
                <a:sym typeface="Public Sans Thin"/>
              </a:rPr>
              <a:t> </a:t>
            </a:r>
            <a:r>
              <a:rPr lang="en" sz="2000">
                <a:solidFill>
                  <a:srgbClr val="2B2C30"/>
                </a:solidFill>
                <a:latin typeface="Public Sans Thin"/>
                <a:ea typeface="Public Sans Thin"/>
                <a:cs typeface="Public Sans Thin"/>
                <a:sym typeface="Public Sans Thin"/>
              </a:rPr>
              <a:t>Increase engagement by naturally guiding students into the question</a:t>
            </a:r>
            <a:endParaRPr sz="2000">
              <a:solidFill>
                <a:srgbClr val="2B2C30"/>
              </a:solidFill>
              <a:latin typeface="Public Sans Thin"/>
              <a:ea typeface="Public Sans Thin"/>
              <a:cs typeface="Public Sans Thin"/>
              <a:sym typeface="Public Sans Thin"/>
            </a:endParaRPr>
          </a:p>
          <a:p>
            <a:pPr indent="-355600" lvl="0" marL="457200" rtl="0" algn="l">
              <a:spcBef>
                <a:spcPts val="0"/>
              </a:spcBef>
              <a:spcAft>
                <a:spcPts val="0"/>
              </a:spcAft>
              <a:buClr>
                <a:srgbClr val="2B2C30"/>
              </a:buClr>
              <a:buSzPts val="2000"/>
              <a:buFont typeface="Public Sans Thin"/>
              <a:buChar char="-"/>
            </a:pPr>
            <a:r>
              <a:rPr lang="en" sz="2000">
                <a:solidFill>
                  <a:srgbClr val="2B2C30"/>
                </a:solidFill>
                <a:latin typeface="Public Sans Thin"/>
                <a:ea typeface="Public Sans Thin"/>
                <a:cs typeface="Public Sans Thin"/>
                <a:sym typeface="Public Sans Thin"/>
              </a:rPr>
              <a:t>Chapters with a larger number of these questions are perceived more positive across the board</a:t>
            </a:r>
            <a:endParaRPr sz="2000">
              <a:solidFill>
                <a:srgbClr val="2B2C30"/>
              </a:solidFill>
              <a:latin typeface="Public Sans Thin"/>
              <a:ea typeface="Public Sans Thin"/>
              <a:cs typeface="Public Sans Thin"/>
              <a:sym typeface="Public Sans Thin"/>
            </a:endParaRPr>
          </a:p>
          <a:p>
            <a:pPr indent="-355600" lvl="0" marL="457200" rtl="0" algn="l">
              <a:spcBef>
                <a:spcPts val="0"/>
              </a:spcBef>
              <a:spcAft>
                <a:spcPts val="0"/>
              </a:spcAft>
              <a:buClr>
                <a:srgbClr val="2B2C30"/>
              </a:buClr>
              <a:buSzPts val="2000"/>
              <a:buFont typeface="Public Sans Thin"/>
              <a:buChar char="-"/>
            </a:pPr>
            <a:r>
              <a:rPr b="1" lang="en" sz="2000">
                <a:solidFill>
                  <a:srgbClr val="2B2C30"/>
                </a:solidFill>
                <a:latin typeface="Public Sans"/>
                <a:ea typeface="Public Sans"/>
                <a:cs typeface="Public Sans"/>
                <a:sym typeface="Public Sans"/>
              </a:rPr>
              <a:t>Solution:</a:t>
            </a:r>
            <a:r>
              <a:rPr lang="en" sz="2000">
                <a:solidFill>
                  <a:srgbClr val="2B2C30"/>
                </a:solidFill>
                <a:latin typeface="Public Sans Thin"/>
                <a:ea typeface="Public Sans Thin"/>
                <a:cs typeface="Public Sans Thin"/>
                <a:sym typeface="Public Sans Thin"/>
              </a:rPr>
              <a:t> Increase the number of short test questions. Allow students to explain their confusion for partial credit</a:t>
            </a:r>
            <a:endParaRPr sz="2000">
              <a:solidFill>
                <a:srgbClr val="2B2C30"/>
              </a:solidFill>
              <a:latin typeface="Public Sans Thin"/>
              <a:ea typeface="Public Sans Thin"/>
              <a:cs typeface="Public Sans Thin"/>
              <a:sym typeface="Public Sans Thin"/>
            </a:endParaRPr>
          </a:p>
        </p:txBody>
      </p:sp>
      <p:pic>
        <p:nvPicPr>
          <p:cNvPr id="208" name="Google Shape;208;p27"/>
          <p:cNvPicPr preferRelativeResize="0"/>
          <p:nvPr/>
        </p:nvPicPr>
        <p:blipFill>
          <a:blip r:embed="rId3">
            <a:alphaModFix/>
          </a:blip>
          <a:stretch>
            <a:fillRect/>
          </a:stretch>
        </p:blipFill>
        <p:spPr>
          <a:xfrm>
            <a:off x="6021375" y="99725"/>
            <a:ext cx="2901076" cy="2414075"/>
          </a:xfrm>
          <a:prstGeom prst="rect">
            <a:avLst/>
          </a:prstGeom>
          <a:noFill/>
          <a:ln cap="flat" cmpd="sng" w="19050">
            <a:solidFill>
              <a:schemeClr val="dk1"/>
            </a:solidFill>
            <a:prstDash val="solid"/>
            <a:round/>
            <a:headEnd len="sm" w="sm" type="none"/>
            <a:tailEnd len="sm" w="sm" type="none"/>
          </a:ln>
        </p:spPr>
      </p:pic>
      <p:cxnSp>
        <p:nvCxnSpPr>
          <p:cNvPr id="209" name="Google Shape;209;p27"/>
          <p:cNvCxnSpPr/>
          <p:nvPr/>
        </p:nvCxnSpPr>
        <p:spPr>
          <a:xfrm flipH="1">
            <a:off x="7570960" y="262074"/>
            <a:ext cx="6600" cy="1965900"/>
          </a:xfrm>
          <a:prstGeom prst="straightConnector1">
            <a:avLst/>
          </a:prstGeom>
          <a:noFill/>
          <a:ln cap="flat" cmpd="sng" w="9525">
            <a:solidFill>
              <a:srgbClr val="FF0000"/>
            </a:solidFill>
            <a:prstDash val="solid"/>
            <a:round/>
            <a:headEnd len="med" w="med" type="none"/>
            <a:tailEnd len="med" w="med" type="none"/>
          </a:ln>
        </p:spPr>
      </p:cxnSp>
      <p:sp>
        <p:nvSpPr>
          <p:cNvPr id="210" name="Google Shape;210;p27"/>
          <p:cNvSpPr txBox="1"/>
          <p:nvPr>
            <p:ph type="title"/>
          </p:nvPr>
        </p:nvSpPr>
        <p:spPr>
          <a:xfrm>
            <a:off x="89325" y="47275"/>
            <a:ext cx="767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420">
                <a:solidFill>
                  <a:srgbClr val="2B2C30"/>
                </a:solidFill>
                <a:latin typeface="Public Sans"/>
                <a:ea typeface="Public Sans"/>
                <a:cs typeface="Public Sans"/>
                <a:sym typeface="Public Sans"/>
              </a:rPr>
              <a:t>Short Text Questions</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SzPts val="1100"/>
              <a:buNone/>
            </a:pPr>
            <a:r>
              <a:t/>
            </a:r>
            <a:endParaRPr b="1" sz="2420">
              <a:solidFill>
                <a:srgbClr val="2B2C30"/>
              </a:solidFill>
              <a:latin typeface="Public Sans"/>
              <a:ea typeface="Public Sans"/>
              <a:cs typeface="Public Sans"/>
              <a:sym typeface="Public Sans"/>
            </a:endParaRPr>
          </a:p>
          <a:p>
            <a:pPr indent="0" lvl="0" marL="0" rtl="0" algn="l">
              <a:spcBef>
                <a:spcPts val="0"/>
              </a:spcBef>
              <a:spcAft>
                <a:spcPts val="0"/>
              </a:spcAft>
              <a:buSzPts val="1100"/>
              <a:buNone/>
            </a:pPr>
            <a:r>
              <a:t/>
            </a:r>
            <a:endParaRPr b="1" sz="2420">
              <a:solidFill>
                <a:srgbClr val="2B2C30"/>
              </a:solidFill>
              <a:latin typeface="Public Sans"/>
              <a:ea typeface="Public Sans"/>
              <a:cs typeface="Public Sans"/>
              <a:sym typeface="Public Sans"/>
            </a:endParaRPr>
          </a:p>
        </p:txBody>
      </p:sp>
      <p:pic>
        <p:nvPicPr>
          <p:cNvPr id="211" name="Google Shape;211;p27"/>
          <p:cNvPicPr preferRelativeResize="0"/>
          <p:nvPr/>
        </p:nvPicPr>
        <p:blipFill>
          <a:blip r:embed="rId4">
            <a:alphaModFix/>
          </a:blip>
          <a:stretch>
            <a:fillRect/>
          </a:stretch>
        </p:blipFill>
        <p:spPr>
          <a:xfrm>
            <a:off x="6021374" y="2687204"/>
            <a:ext cx="2901074" cy="2286621"/>
          </a:xfrm>
          <a:prstGeom prst="rect">
            <a:avLst/>
          </a:prstGeom>
          <a:noFill/>
          <a:ln cap="flat" cmpd="sng" w="19050">
            <a:solidFill>
              <a:schemeClr val="dk1"/>
            </a:solidFill>
            <a:prstDash val="solid"/>
            <a:round/>
            <a:headEnd len="sm" w="sm" type="none"/>
            <a:tailEnd len="sm" w="sm" type="none"/>
          </a:ln>
        </p:spPr>
      </p:pic>
      <p:cxnSp>
        <p:nvCxnSpPr>
          <p:cNvPr id="212" name="Google Shape;212;p27"/>
          <p:cNvCxnSpPr/>
          <p:nvPr/>
        </p:nvCxnSpPr>
        <p:spPr>
          <a:xfrm flipH="1" rot="10800000">
            <a:off x="-9600" y="2513800"/>
            <a:ext cx="5968500" cy="17400"/>
          </a:xfrm>
          <a:prstGeom prst="straightConnector1">
            <a:avLst/>
          </a:prstGeom>
          <a:noFill/>
          <a:ln cap="flat" cmpd="sng" w="38100">
            <a:solidFill>
              <a:srgbClr val="2B2C3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p:nvPr/>
        </p:nvSpPr>
        <p:spPr>
          <a:xfrm>
            <a:off x="625800" y="0"/>
            <a:ext cx="7892400" cy="5143500"/>
          </a:xfrm>
          <a:prstGeom prst="trapezoid">
            <a:avLst>
              <a:gd fmla="val 10984" name="adj"/>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28"/>
          <p:cNvSpPr/>
          <p:nvPr/>
        </p:nvSpPr>
        <p:spPr>
          <a:xfrm>
            <a:off x="1549000" y="1809875"/>
            <a:ext cx="6046000" cy="1504175"/>
          </a:xfrm>
          <a:prstGeom prst="flowChartPreparation">
            <a:avLst/>
          </a:prstGeom>
          <a:solidFill>
            <a:srgbClr val="EFEE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8"/>
          <p:cNvSpPr txBox="1"/>
          <p:nvPr>
            <p:ph type="title"/>
          </p:nvPr>
        </p:nvSpPr>
        <p:spPr>
          <a:xfrm>
            <a:off x="2041200" y="2160750"/>
            <a:ext cx="5061600" cy="115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500">
                <a:solidFill>
                  <a:srgbClr val="2B2C30"/>
                </a:solidFill>
                <a:latin typeface="Public Sans"/>
                <a:ea typeface="Public Sans"/>
                <a:cs typeface="Public Sans"/>
                <a:sym typeface="Public Sans"/>
              </a:rPr>
              <a:t>Our </a:t>
            </a:r>
            <a:r>
              <a:rPr b="1" lang="en" sz="3500">
                <a:solidFill>
                  <a:srgbClr val="2B2C30"/>
                </a:solidFill>
                <a:latin typeface="Public Sans"/>
                <a:ea typeface="Public Sans"/>
                <a:cs typeface="Public Sans"/>
                <a:sym typeface="Public Sans"/>
              </a:rPr>
              <a:t>Recommendations</a:t>
            </a:r>
            <a:endParaRPr b="1" sz="3500">
              <a:solidFill>
                <a:srgbClr val="2B2C30"/>
              </a:solidFill>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p:nvPr/>
        </p:nvSpPr>
        <p:spPr>
          <a:xfrm rot="10800000">
            <a:off x="0" y="0"/>
            <a:ext cx="9149125" cy="1146275"/>
          </a:xfrm>
          <a:prstGeom prst="flowChartManualInpu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9"/>
          <p:cNvSpPr txBox="1"/>
          <p:nvPr>
            <p:ph type="title"/>
          </p:nvPr>
        </p:nvSpPr>
        <p:spPr>
          <a:xfrm>
            <a:off x="314275" y="276925"/>
            <a:ext cx="613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solidFill>
                  <a:srgbClr val="EFEEE7"/>
                </a:solidFill>
                <a:latin typeface="Public Sans"/>
                <a:ea typeface="Public Sans"/>
                <a:cs typeface="Public Sans"/>
                <a:sym typeface="Public Sans"/>
              </a:rPr>
              <a:t>Volunteer Response Bias</a:t>
            </a:r>
            <a:endParaRPr b="1" sz="3020">
              <a:solidFill>
                <a:srgbClr val="EFEEE7"/>
              </a:solidFill>
              <a:latin typeface="Public Sans"/>
              <a:ea typeface="Public Sans"/>
              <a:cs typeface="Public Sans"/>
              <a:sym typeface="Public Sans"/>
            </a:endParaRPr>
          </a:p>
        </p:txBody>
      </p:sp>
      <p:sp>
        <p:nvSpPr>
          <p:cNvPr id="226" name="Google Shape;226;p29"/>
          <p:cNvSpPr/>
          <p:nvPr/>
        </p:nvSpPr>
        <p:spPr>
          <a:xfrm>
            <a:off x="-2550" y="4025425"/>
            <a:ext cx="9149125" cy="1146275"/>
          </a:xfrm>
          <a:prstGeom prst="flowChartManualInput">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9"/>
          <p:cNvSpPr txBox="1"/>
          <p:nvPr/>
        </p:nvSpPr>
        <p:spPr>
          <a:xfrm>
            <a:off x="844950" y="1722800"/>
            <a:ext cx="7454100" cy="2124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2400">
                <a:solidFill>
                  <a:srgbClr val="2B2C30"/>
                </a:solidFill>
                <a:latin typeface="Merriweather Light"/>
                <a:ea typeface="Merriweather Light"/>
                <a:cs typeface="Merriweather Light"/>
                <a:sym typeface="Merriweather Light"/>
              </a:rPr>
              <a:t>Fully integrate an </a:t>
            </a:r>
            <a:r>
              <a:rPr b="1" lang="en" sz="2400">
                <a:solidFill>
                  <a:srgbClr val="2B2C30"/>
                </a:solidFill>
                <a:latin typeface="Merriweather"/>
                <a:ea typeface="Merriweather"/>
                <a:cs typeface="Merriweather"/>
                <a:sym typeface="Merriweather"/>
              </a:rPr>
              <a:t>“I don’t know”</a:t>
            </a:r>
            <a:r>
              <a:rPr lang="en" sz="2400">
                <a:solidFill>
                  <a:srgbClr val="2B2C30"/>
                </a:solidFill>
                <a:latin typeface="Merriweather Light"/>
                <a:ea typeface="Merriweather Light"/>
                <a:cs typeface="Merriweather Light"/>
                <a:sym typeface="Merriweather Light"/>
              </a:rPr>
              <a:t> option.</a:t>
            </a:r>
            <a:endParaRPr sz="2400">
              <a:solidFill>
                <a:srgbClr val="2B2C30"/>
              </a:solidFill>
              <a:latin typeface="Merriweather Light"/>
              <a:ea typeface="Merriweather Light"/>
              <a:cs typeface="Merriweather Light"/>
              <a:sym typeface="Merriweather Light"/>
            </a:endParaRPr>
          </a:p>
          <a:p>
            <a:pPr indent="0" lvl="0" marL="0" rtl="0" algn="l">
              <a:lnSpc>
                <a:spcPct val="100000"/>
              </a:lnSpc>
              <a:spcBef>
                <a:spcPts val="1200"/>
              </a:spcBef>
              <a:spcAft>
                <a:spcPts val="0"/>
              </a:spcAft>
              <a:buNone/>
            </a:pPr>
            <a:r>
              <a:t/>
            </a:r>
            <a:endParaRPr sz="2400">
              <a:solidFill>
                <a:srgbClr val="2B2C30"/>
              </a:solidFill>
              <a:latin typeface="Merriweather Light"/>
              <a:ea typeface="Merriweather Light"/>
              <a:cs typeface="Merriweather Light"/>
              <a:sym typeface="Merriweather Light"/>
            </a:endParaRPr>
          </a:p>
          <a:p>
            <a:pPr indent="0" lvl="0" marL="0" rtl="0" algn="l">
              <a:lnSpc>
                <a:spcPct val="100000"/>
              </a:lnSpc>
              <a:spcBef>
                <a:spcPts val="1200"/>
              </a:spcBef>
              <a:spcAft>
                <a:spcPts val="0"/>
              </a:spcAft>
              <a:buNone/>
            </a:pPr>
            <a:r>
              <a:rPr lang="en" sz="2400">
                <a:solidFill>
                  <a:srgbClr val="2B2C30"/>
                </a:solidFill>
                <a:latin typeface="Merriweather Light"/>
                <a:ea typeface="Merriweather Light"/>
                <a:cs typeface="Merriweather Light"/>
                <a:sym typeface="Merriweather Light"/>
              </a:rPr>
              <a:t>Keep students from getting ahead of themselves.</a:t>
            </a:r>
            <a:endParaRPr sz="2400">
              <a:solidFill>
                <a:srgbClr val="2B2C30"/>
              </a:solidFill>
              <a:latin typeface="Merriweather Light"/>
              <a:ea typeface="Merriweather Light"/>
              <a:cs typeface="Merriweather Light"/>
              <a:sym typeface="Merriweather Light"/>
            </a:endParaRPr>
          </a:p>
          <a:p>
            <a:pPr indent="0" lvl="0" marL="0" rtl="0" algn="l">
              <a:lnSpc>
                <a:spcPct val="100000"/>
              </a:lnSpc>
              <a:spcBef>
                <a:spcPts val="1200"/>
              </a:spcBef>
              <a:spcAft>
                <a:spcPts val="1200"/>
              </a:spcAft>
              <a:buNone/>
            </a:pPr>
            <a:r>
              <a:t/>
            </a:r>
            <a:endParaRPr sz="2400">
              <a:solidFill>
                <a:srgbClr val="2B2C30"/>
              </a:solidFill>
              <a:latin typeface="Merriweather Light"/>
              <a:ea typeface="Merriweather Light"/>
              <a:cs typeface="Merriweather Light"/>
              <a:sym typeface="Merriweather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p:nvPr/>
        </p:nvSpPr>
        <p:spPr>
          <a:xfrm>
            <a:off x="0" y="0"/>
            <a:ext cx="11307000" cy="5143500"/>
          </a:xfrm>
          <a:prstGeom prst="halfFrame">
            <a:avLst>
              <a:gd fmla="val 24543" name="adj1"/>
              <a:gd fmla="val 19255" name="adj2"/>
            </a:avLst>
          </a:prstGeom>
          <a:solidFill>
            <a:srgbClr val="2B2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0"/>
          <p:cNvSpPr txBox="1"/>
          <p:nvPr/>
        </p:nvSpPr>
        <p:spPr>
          <a:xfrm>
            <a:off x="937413" y="1239375"/>
            <a:ext cx="3860700" cy="81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900">
                <a:solidFill>
                  <a:srgbClr val="2B2C30"/>
                </a:solidFill>
                <a:latin typeface="Merriweather Light"/>
                <a:ea typeface="Merriweather Light"/>
                <a:cs typeface="Merriweather Light"/>
                <a:sym typeface="Merriweather Light"/>
              </a:rPr>
              <a:t>Some questions-types are </a:t>
            </a:r>
            <a:r>
              <a:rPr b="1" lang="en" sz="1900">
                <a:solidFill>
                  <a:srgbClr val="2B2C30"/>
                </a:solidFill>
                <a:latin typeface="Merriweather"/>
                <a:ea typeface="Merriweather"/>
                <a:cs typeface="Merriweather"/>
                <a:sym typeface="Merriweather"/>
              </a:rPr>
              <a:t>poor indicators of student success.</a:t>
            </a:r>
            <a:r>
              <a:rPr lang="en" sz="1900">
                <a:solidFill>
                  <a:srgbClr val="2B2C30"/>
                </a:solidFill>
                <a:latin typeface="Merriweather Light"/>
                <a:ea typeface="Merriweather Light"/>
                <a:cs typeface="Merriweather Light"/>
                <a:sym typeface="Merriweather Light"/>
              </a:rPr>
              <a:t> </a:t>
            </a:r>
            <a:endParaRPr sz="1900">
              <a:solidFill>
                <a:srgbClr val="2B2C30"/>
              </a:solidFill>
              <a:latin typeface="Merriweather Light"/>
              <a:ea typeface="Merriweather Light"/>
              <a:cs typeface="Merriweather Light"/>
              <a:sym typeface="Merriweather Light"/>
            </a:endParaRPr>
          </a:p>
        </p:txBody>
      </p:sp>
      <p:pic>
        <p:nvPicPr>
          <p:cNvPr id="234" name="Google Shape;234;p30"/>
          <p:cNvPicPr preferRelativeResize="0"/>
          <p:nvPr/>
        </p:nvPicPr>
        <p:blipFill>
          <a:blip r:embed="rId3">
            <a:alphaModFix/>
          </a:blip>
          <a:stretch>
            <a:fillRect/>
          </a:stretch>
        </p:blipFill>
        <p:spPr>
          <a:xfrm>
            <a:off x="1218788" y="2389275"/>
            <a:ext cx="3297976" cy="2636050"/>
          </a:xfrm>
          <a:prstGeom prst="rect">
            <a:avLst/>
          </a:prstGeom>
          <a:noFill/>
          <a:ln cap="flat" cmpd="sng" w="19050">
            <a:solidFill>
              <a:srgbClr val="2B2C30"/>
            </a:solidFill>
            <a:prstDash val="solid"/>
            <a:round/>
            <a:headEnd len="sm" w="sm" type="none"/>
            <a:tailEnd len="sm" w="sm" type="none"/>
          </a:ln>
        </p:spPr>
      </p:pic>
      <p:sp>
        <p:nvSpPr>
          <p:cNvPr id="235" name="Google Shape;235;p30"/>
          <p:cNvSpPr txBox="1"/>
          <p:nvPr/>
        </p:nvSpPr>
        <p:spPr>
          <a:xfrm>
            <a:off x="85650" y="96250"/>
            <a:ext cx="4314300" cy="109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 sz="3000">
                <a:solidFill>
                  <a:srgbClr val="EFEEE7"/>
                </a:solidFill>
                <a:latin typeface="Public Sans"/>
                <a:ea typeface="Public Sans"/>
                <a:cs typeface="Public Sans"/>
                <a:sym typeface="Public Sans"/>
              </a:rPr>
              <a:t>Not all questions are created equal. </a:t>
            </a:r>
            <a:endParaRPr b="1" sz="3000">
              <a:solidFill>
                <a:srgbClr val="EFEEE7"/>
              </a:solidFill>
            </a:endParaRPr>
          </a:p>
        </p:txBody>
      </p:sp>
      <p:pic>
        <p:nvPicPr>
          <p:cNvPr id="236" name="Google Shape;236;p30"/>
          <p:cNvPicPr preferRelativeResize="0"/>
          <p:nvPr/>
        </p:nvPicPr>
        <p:blipFill>
          <a:blip r:embed="rId4">
            <a:alphaModFix/>
          </a:blip>
          <a:stretch>
            <a:fillRect/>
          </a:stretch>
        </p:blipFill>
        <p:spPr>
          <a:xfrm>
            <a:off x="5362525" y="2389287"/>
            <a:ext cx="3297976" cy="2636039"/>
          </a:xfrm>
          <a:prstGeom prst="rect">
            <a:avLst/>
          </a:prstGeom>
          <a:noFill/>
          <a:ln cap="flat" cmpd="sng" w="19050">
            <a:solidFill>
              <a:srgbClr val="2B2C30"/>
            </a:solidFill>
            <a:prstDash val="solid"/>
            <a:round/>
            <a:headEnd len="sm" w="sm" type="none"/>
            <a:tailEnd len="sm" w="sm" type="none"/>
          </a:ln>
        </p:spPr>
      </p:pic>
      <p:sp>
        <p:nvSpPr>
          <p:cNvPr id="237" name="Google Shape;237;p30"/>
          <p:cNvSpPr txBox="1"/>
          <p:nvPr/>
        </p:nvSpPr>
        <p:spPr>
          <a:xfrm>
            <a:off x="4798125" y="1239375"/>
            <a:ext cx="4277100" cy="1149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900">
                <a:solidFill>
                  <a:srgbClr val="2B2C30"/>
                </a:solidFill>
                <a:latin typeface="Merriweather Light"/>
                <a:ea typeface="Merriweather Light"/>
                <a:cs typeface="Merriweather Light"/>
                <a:sym typeface="Merriweather Light"/>
              </a:rPr>
              <a:t>These questions should be </a:t>
            </a:r>
            <a:r>
              <a:rPr b="1" lang="en" sz="1900">
                <a:solidFill>
                  <a:srgbClr val="2B2C30"/>
                </a:solidFill>
                <a:latin typeface="Merriweather"/>
                <a:ea typeface="Merriweather"/>
                <a:cs typeface="Merriweather"/>
                <a:sym typeface="Merriweather"/>
              </a:rPr>
              <a:t>altered </a:t>
            </a:r>
            <a:r>
              <a:rPr lang="en" sz="1900">
                <a:solidFill>
                  <a:srgbClr val="2B2C30"/>
                </a:solidFill>
                <a:latin typeface="Merriweather Light"/>
                <a:ea typeface="Merriweather Light"/>
                <a:cs typeface="Merriweather Light"/>
                <a:sym typeface="Merriweather Light"/>
              </a:rPr>
              <a:t>or </a:t>
            </a:r>
            <a:r>
              <a:rPr b="1" lang="en" sz="1900">
                <a:solidFill>
                  <a:srgbClr val="2B2C30"/>
                </a:solidFill>
                <a:latin typeface="Merriweather"/>
                <a:ea typeface="Merriweather"/>
                <a:cs typeface="Merriweather"/>
                <a:sym typeface="Merriweather"/>
              </a:rPr>
              <a:t>replaced</a:t>
            </a:r>
            <a:r>
              <a:rPr lang="en" sz="1900">
                <a:solidFill>
                  <a:srgbClr val="2B2C30"/>
                </a:solidFill>
                <a:latin typeface="Merriweather Light"/>
                <a:ea typeface="Merriweather Light"/>
                <a:cs typeface="Merriweather Light"/>
                <a:sym typeface="Merriweather Light"/>
              </a:rPr>
              <a:t> with questions that are more helpful.</a:t>
            </a:r>
            <a:endParaRPr sz="1900">
              <a:solidFill>
                <a:srgbClr val="2B2C30"/>
              </a:solidFill>
              <a:latin typeface="Merriweather Light"/>
              <a:ea typeface="Merriweather Light"/>
              <a:cs typeface="Merriweather Light"/>
              <a:sym typeface="Merriweather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2271450" y="1796675"/>
            <a:ext cx="4601100" cy="106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6000">
                <a:solidFill>
                  <a:srgbClr val="2B2C30"/>
                </a:solidFill>
                <a:latin typeface="Public Sans"/>
                <a:ea typeface="Public Sans"/>
                <a:cs typeface="Public Sans"/>
                <a:sym typeface="Public Sans"/>
              </a:rPr>
              <a:t>The End</a:t>
            </a:r>
            <a:endParaRPr b="1" sz="6000">
              <a:solidFill>
                <a:srgbClr val="2B2C30"/>
              </a:solidFill>
              <a:latin typeface="Public Sans"/>
              <a:ea typeface="Public Sans"/>
              <a:cs typeface="Public Sans"/>
              <a:sym typeface="Public Sans"/>
            </a:endParaRPr>
          </a:p>
        </p:txBody>
      </p:sp>
      <p:sp>
        <p:nvSpPr>
          <p:cNvPr id="243" name="Google Shape;243;p31"/>
          <p:cNvSpPr txBox="1"/>
          <p:nvPr>
            <p:ph idx="1" type="body"/>
          </p:nvPr>
        </p:nvSpPr>
        <p:spPr>
          <a:xfrm>
            <a:off x="311700" y="2865575"/>
            <a:ext cx="8520600" cy="752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solidFill>
                  <a:srgbClr val="2B2C30"/>
                </a:solidFill>
                <a:latin typeface="Public Sans Thin"/>
                <a:ea typeface="Public Sans Thin"/>
                <a:cs typeface="Public Sans Thin"/>
                <a:sym typeface="Public Sans Thin"/>
              </a:rPr>
              <a:t>Thank you for listening!</a:t>
            </a:r>
            <a:endParaRPr>
              <a:solidFill>
                <a:srgbClr val="2B2C30"/>
              </a:solidFill>
              <a:latin typeface="Public Sans Thin"/>
              <a:ea typeface="Public Sans Thin"/>
              <a:cs typeface="Public Sans Thin"/>
              <a:sym typeface="Public Sans Th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